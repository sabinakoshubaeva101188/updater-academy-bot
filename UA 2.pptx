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comments/modernComment_106_5A2E750B.xml" ContentType="application/vnd.ms-powerpoint.comment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473365-85E7-989D-A35B-EF5272E08D50}" name="Сабина Кошубаева" initials="СК" userId="f5ce2c0119345b4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CF4834-C7FB-A14F-A065-B2575A6CE96A}" v="55" dt="2026-09-16T07:06:36.040"/>
  </p1510:revLst>
</p1510:revInfo>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9246"/>
    <p:restoredTop sz="94659"/>
  </p:normalViewPr>
  <p:slideViewPr>
    <p:cSldViewPr snapToGrid="0">
      <p:cViewPr>
        <p:scale>
          <a:sx n="74" d="100"/>
          <a:sy n="74" d="100"/>
        </p:scale>
        <p:origin x="272" y="4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omments/modernComment_106_5A2E750B.xml><?xml version="1.0" encoding="utf-8"?>
<p188:cmLst xmlns:a="http://schemas.openxmlformats.org/drawingml/2006/main" xmlns:r="http://schemas.openxmlformats.org/officeDocument/2006/relationships" xmlns:p188="http://schemas.microsoft.com/office/powerpoint/2018/8/main">
  <p188:cm id="{C8251E33-14C3-624D-A2AB-279799D77CD9}" authorId="{0A473365-85E7-989D-A35B-EF5272E08D50}" created="2026-09-08T18:09:11.996">
    <pc:sldMkLst xmlns:pc="http://schemas.microsoft.com/office/powerpoint/2013/main/command">
      <pc:docMk/>
      <pc:sldMk cId="1512994059" sldId="262"/>
    </pc:sldMkLst>
    <p188:txBody>
      <a:bodyPr/>
      <a:lstStyle/>
      <a:p>
        <a:r>
          <a:rPr lang="ru-KG"/>
          <a:t>завтра надо заменить на другой</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5:56:07.077"/>
    </inkml:context>
    <inkml:brush xml:id="br0">
      <inkml:brushProperty name="width" value="0.035" units="cm"/>
      <inkml:brushProperty name="height" value="0.035" units="cm"/>
    </inkml:brush>
  </inkml:definitions>
  <inkml:trace contextRef="#ctx0" brushRef="#br0">1 40 24575,'14'0'0,"14"-4"0,-6 3 0,6-4 0,-14 5 0,-13 0 0,11 0 0,-14 0 0,10 0 0,-17 0 0,16 0 0,-14-4 0,16-2 0,-18 1 0,16 0 0,3 5 0,7 0 0,9-4 0,-15 3 0,-5-3 0,6 8 0,-10-3 0,16 3 0,-7-4 0,16 0 0,-2 0 0,4 0 0,-5 0 0,-6 0 0,5 0 0,-5 0 0,8 0 0,-15 0 0,8 0 0,-9 0 0,9 0 0,-8 0 0,7 0 0,-2 0 0,-1 0 0,4 0 0,-9 0 0,9 0 0,-8 0 0,7 0 0,-7 9 0,8-7 0,-8 7 0,7-9 0,-7 4 0,8-3 0,-8 4 0,7-5 0,-7 0 0,3 0 0,-4 0 0,0 0 0,-1 0 0,1 0 0,4 0 0,6 0 0,-4 8 0,12-1 0,-12 3 0,3-6 0,0-4 0,-8 0 0,7 9 0,-7-7 0,8 7 0,-8-9 0,7 0 0,-11 0 0,2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5T15:56:24.069"/>
    </inkml:context>
    <inkml:brush xml:id="br0">
      <inkml:brushProperty name="width" value="0.1" units="cm"/>
      <inkml:brushProperty name="height" value="0.2" units="cm"/>
      <inkml:brushProperty name="tip" value="rectangle"/>
      <inkml:brushProperty name="rasterOp" value="maskPen"/>
    </inkml:brush>
  </inkml:definitions>
  <inkml:trace contextRef="#ctx0" brushRef="#br0">1 93,'21'0,"9"0,-12 0,0-17,-9 8,-4-8,-4 3,12 12,-7-7,13 9,4-11,-6 8,10-8,-12 11,5 4,-1-2,16 25,-4-21,13 23,-7-17,1 1,-13-1,2-7,-12-5,12 11,-5-8,14 8,8-11,-16 4,13 6,-30 1,8-6,-8-2,7-7,-7 4,8 0,-13-9,7 7,-3-7,1 5,3 3,-4-4,0 5,4 0,1-9,5 7,4-20,-4 19,-4-15,-7 8,-9-1,-9 1,-2 6,-32 4,-4 0,-23 0,26 0,3 0,30 0,-16 0,2 0,-5 0,-5 0,5 5,5-3,-2 12,16-12,-8 7,8-9,-8 4,8-3,-7 12,7-10,-8 5,8-8,-8 0,8 0,1 5,1-9,4 8,-10 0,4-2,-7 7,7-9,-8 0,8 0,-8-9,21 2,-13-2,2-1,-25 8,-6-3,-6 5,20-9,0 15,19-12,-2 14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5T15:56:26.203"/>
    </inkml:context>
    <inkml:brush xml:id="br0">
      <inkml:brushProperty name="width" value="0.1" units="cm"/>
      <inkml:brushProperty name="height" value="0.2" units="cm"/>
      <inkml:brushProperty name="tip" value="rectangle"/>
      <inkml:brushProperty name="rasterOp" value="maskPen"/>
    </inkml:brush>
  </inkml:definitions>
  <inkml:trace contextRef="#ctx0" brushRef="#br0">1 4,'25'0,"-5"9,6-7,-9 2,19-11,-14 2,5-1,-7 6,-1 0,-3 9,-2-7,-4 7,-1-9,1 0,4 0,-7 4,6-3,-8 3,10-4,0 9,0-7,-1 7,-4-9,12 6,3-5,13 16,-9-15,-6 10,-13-8,3-3,6 3,11-4,8-4,-8 3,-6-12,-5 10,-9-5,9 8,-8-5,7 4,-2-3,-5-5,2 7,-4-7,2 9,8-5,-8 4,7-3,6 4,-7 0,9 0,-15 0,8 0,-8 0,7 0,-11 0,1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5T15:56:28.333"/>
    </inkml:context>
    <inkml:brush xml:id="br0">
      <inkml:brushProperty name="width" value="0.1" units="cm"/>
      <inkml:brushProperty name="height" value="0.2" units="cm"/>
      <inkml:brushProperty name="tip" value="rectangle"/>
      <inkml:brushProperty name="rasterOp" value="maskPen"/>
    </inkml:brush>
  </inkml:definitions>
  <inkml:trace contextRef="#ctx0" brushRef="#br0">1040 80,'-21'0,"-2"0,12 0,-8 0,8-4,-3 2,-1-2,4 4,-7 0,7-4,-8 3,-5-4,-5 5,3-9,0 7,15-7,-8 9,8 0,-8 0,4 0,-1 0,-2 0,7 0,-16 0,9 0,-5 0,4 0,8 0,-7 0,-6 0,7 0,-18 0,18 0,-7 0,6 0,11-4,-6 3,3-4,-1 5,-3 0,4 0,-5 0,4 0,-7 0,-6 0,7 0,-10 0,21-8,-17 5,16-5,-16 8,12 0,1-5,-4 4,8-3,-13 4,8 4,-3 6,4-4,-5 7,0-12,0 4,5-5,5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5T15:56:30.793"/>
    </inkml:context>
    <inkml:brush xml:id="br0">
      <inkml:brushProperty name="width" value="0.1" units="cm"/>
      <inkml:brushProperty name="height" value="0.2" units="cm"/>
      <inkml:brushProperty name="tip" value="rectangle"/>
      <inkml:brushProperty name="rasterOp" value="maskPen"/>
    </inkml:brush>
  </inkml:definitions>
  <inkml:trace contextRef="#ctx0" brushRef="#br0">1 31,'37'0,"-10"0,0 0,-8 0,-4 0,1 0,2 0,-11 5,6-4,-3 3,0-4,9 0,-13 9,8-7,-5 7,2-9,-1 4,3-3,-6 3,11-4,-7 0,8 9,17-7,-16 7,20-5,-25-2,1 11,2-11,-11-2,6-2,-12-12,12 13,-7-12,13 11,-8-11,7 11,-11-11,6 11,-3-11,1 12,3-8,-4 3,-1 1,6 0,-5 5,9-4,-8 3,7-3,6 4,-7 0,9 0,-15 0,8 0,-8 0,7 0,-7 0,-1 0,-6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5T15:56:34.396"/>
    </inkml:context>
    <inkml:brush xml:id="br0">
      <inkml:brushProperty name="width" value="0.1" units="cm"/>
      <inkml:brushProperty name="height" value="0.2" units="cm"/>
      <inkml:brushProperty name="tip" value="rectangle"/>
      <inkml:brushProperty name="rasterOp" value="maskPen"/>
    </inkml:brush>
  </inkml:definitions>
  <inkml:trace contextRef="#ctx0" brushRef="#br0">917 16,'-21'-6,"-2"2,11 4,-14 5,8-3,-17 14,17-13,-4 8,8-6,3-4,-8 3,8-4,-8 0,8 0,-8 0,8 0,-7 0,7 0,-8 0,8 0,-8 0,8 0,-8 0,-4 0,6 0,-18 0,18 0,-7 0,5 0,4 0,0 0,-4 0,8 0,-16 0,10 0,-7 0,-2 0,-13-9,6 7,-3-16,17 16,3-7,-11 4,9 3,-8-3,19 5,-2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5T15:56:38.953"/>
    </inkml:context>
    <inkml:brush xml:id="br0">
      <inkml:brushProperty name="width" value="0.1" units="cm"/>
      <inkml:brushProperty name="height" value="0.2" units="cm"/>
      <inkml:brushProperty name="tip" value="rectangle"/>
      <inkml:brushProperty name="rasterOp" value="maskPen"/>
    </inkml:brush>
  </inkml:definitions>
  <inkml:trace contextRef="#ctx0" brushRef="#br0">0 7,'16'5,"-6"8,3-10,-7 5,13-8,-8 0,7 0,-7 5,8-4,-9 3,9-4,-8 0,7 0,10 0,-5 0,4 0,0 0,-10 0,6 0,-4 0,-8 0,3 0,-5 0,6 0,-5 0,9 0,-8 0,8 0,-13 9,7-7,-3 7,1-9,7 0,-7 0,16 0,-10 0,6 0,-4 0,-8 0,7 0,-3 0,1 0,10-12,-9 10,7-14,-6 15,5-3,-5-5,8 7,-3-7,7 9,7 0,1 0,-4-5,-10 4,-10-3,-9 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5T15:57:17.371"/>
    </inkml:context>
    <inkml:brush xml:id="br0">
      <inkml:brushProperty name="width" value="0.1" units="cm"/>
      <inkml:brushProperty name="height" value="0.2" units="cm"/>
      <inkml:brushProperty name="tip" value="rectangle"/>
      <inkml:brushProperty name="rasterOp" value="maskPen"/>
    </inkml:brush>
  </inkml:definitions>
  <inkml:trace contextRef="#ctx0" brushRef="#br0">489 43,'-43'-9,"2"1,-10 1,-1 1,3 0,14 3,10 0,17 4,2-3,0 6,2-4,-1 5,0-3,0 0,1 0,-3-1,2 0,-1 0,-1 2,-1-3,1 6,0-6,-1 2,4-2,-3 0,2 0,1 0,-7 3,4-2,-5 2,5-3,-3 0,3 1,0 0,0 0,5-1,-2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5T15:57:19.101"/>
    </inkml:context>
    <inkml:brush xml:id="br0">
      <inkml:brushProperty name="width" value="0.1" units="cm"/>
      <inkml:brushProperty name="height" value="0.2" units="cm"/>
      <inkml:brushProperty name="tip" value="rectangle"/>
      <inkml:brushProperty name="rasterOp" value="maskPen"/>
    </inkml:brush>
  </inkml:definitions>
  <inkml:trace contextRef="#ctx0" brushRef="#br0">1 28,'13'1,"0"-1,-10 0,0 0,5 0,-3 0,7 0,-5 0,10 0,-1 0,5 0,-8 0,-1 0,-7 0,2 0,-2 0,-1 0,4-1,-5 1,3-1,0 1,-2-2,3 2,-1-1,-2 1,3-2,-2 1,-1-2,4 2,-1-1,2 0,-1-1,-1 1,0-2,-2 4,3-3,-4 3,1 0,1 0,-1 0,1 0,3 0,-5 0,4 0,-3 0,-2 0,4 0,-3 0,4 0,-3 0,1 0,-1 0,3 3,-3-3,2 3,-4 1,2-4,0 5,-1-3,2 1,-3 2,2-3,0 0,0-2,3 0,-5 1,5-1,-4 4,2-4,2 3,-4-3,5 1,-3-1,1 2,-2-2,-1 2,2-1,-2 2,2-3,0 1,-1-2,5-1,-5 1,2 0,0 1,-2 0,1 0,-3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5T15:57:20.161"/>
    </inkml:context>
    <inkml:brush xml:id="br0">
      <inkml:brushProperty name="width" value="0.1" units="cm"/>
      <inkml:brushProperty name="height" value="0.2" units="cm"/>
      <inkml:brushProperty name="tip" value="rectangle"/>
      <inkml:brushProperty name="rasterOp" value="maskPen"/>
    </inkml:brush>
  </inkml:definitions>
  <inkml:trace contextRef="#ctx0" brushRef="#br0">252 0,'-24'4,"6"-1,6 0,-1-3,7 1,-6-1,5 1,-7 0,7 2,-5-2,10 1,-5-2,2 0,-4 2,1-2,-1 1,-1 1,2-2,2 3,-1-3,3 1,-2-1,-3 0,4 0,-7 3,5-2,0 2,2 0,4 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a:r>
              <a:rPr lang="ru-RU"/>
              <a:t>Образец заголовка</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ru-RU"/>
              <a:t>Образец подзаголовка</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a:lstStyle>
            <a:lvl1pPr>
              <a:defRPr>
                <a:solidFill>
                  <a:schemeClr val="bg1"/>
                </a:solidFill>
              </a:defRPr>
            </a:lvl1pPr>
          </a:lstStyle>
          <a:p>
            <a:endParaRPr lang="ru-KG"/>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a:lstStyle>
            <a:lvl1pPr>
              <a:defRPr>
                <a:solidFill>
                  <a:schemeClr val="bg1"/>
                </a:solidFill>
              </a:defRPr>
            </a:lvl1pPr>
          </a:lstStyle>
          <a:p>
            <a:fld id="{0F07AFD4-01FD-9C4B-A328-BE0BD154D696}" type="datetimeFigureOut">
              <a:rPr lang="ru-KG" smtClean="0"/>
              <a:t>16.09.2026</a:t>
            </a:fld>
            <a:endParaRPr lang="ru-KG"/>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a:lstStyle>
            <a:lvl1pPr>
              <a:defRPr>
                <a:solidFill>
                  <a:schemeClr val="bg1"/>
                </a:solidFill>
              </a:defRPr>
            </a:lvl1pPr>
          </a:lstStyle>
          <a:p>
            <a:fld id="{EEA07AE3-C9D7-4B48-A79F-AA19B757F40E}" type="slidenum">
              <a:rPr lang="ru-KG" smtClean="0"/>
              <a:t>‹#›</a:t>
            </a:fld>
            <a:endParaRPr lang="ru-KG"/>
          </a:p>
        </p:txBody>
      </p:sp>
      <p:sp>
        <p:nvSpPr>
          <p:cNvPr id="7" name="Rectangle 6">
            <a:extLst>
              <a:ext uri="{FF2B5EF4-FFF2-40B4-BE49-F238E27FC236}">
                <a16:creationId xmlns:a16="http://schemas.microsoft.com/office/drawing/2014/main" id="{6631FF2A-9DA0-DC5C-0C53-91FDE15093DD}"/>
              </a:ext>
            </a:extLst>
          </p:cNvPr>
          <p:cNvSpPr/>
          <p:nvPr/>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BCA4208E-B529-0934-86E0-24278D43C68A}"/>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944259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Объект">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anchor="t">
            <a:normAutofit/>
          </a:bodyPr>
          <a:lstStyle>
            <a:lvl1pPr>
              <a:defRPr sz="3600" cap="all" baseline="0"/>
            </a:lvl1pPr>
          </a:lstStyle>
          <a:p>
            <a:r>
              <a:rPr lang="ru-RU"/>
              <a:t>Образец заголовка</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Rectangle 6">
            <a:extLst>
              <a:ext uri="{FF2B5EF4-FFF2-40B4-BE49-F238E27FC236}">
                <a16:creationId xmlns:a16="http://schemas.microsoft.com/office/drawing/2014/main" id="{E5526932-58BC-3B05-A619-8FE2BA7973D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8">
            <a:extLst>
              <a:ext uri="{FF2B5EF4-FFF2-40B4-BE49-F238E27FC236}">
                <a16:creationId xmlns:a16="http://schemas.microsoft.com/office/drawing/2014/main" id="{E4751EC6-9764-CDDF-E8BC-793AD483E0A9}"/>
              </a:ext>
            </a:extLst>
          </p:cNvPr>
          <p:cNvSpPr>
            <a:spLocks noGrp="1"/>
          </p:cNvSpPr>
          <p:nvPr>
            <p:ph type="ftr" sz="quarter" idx="11"/>
          </p:nvPr>
        </p:nvSpPr>
        <p:spPr/>
        <p:txBody>
          <a:bodyPr/>
          <a:lstStyle/>
          <a:p>
            <a:endParaRPr lang="ru-KG"/>
          </a:p>
        </p:txBody>
      </p:sp>
      <p:sp>
        <p:nvSpPr>
          <p:cNvPr id="8" name="Date Placeholder 7">
            <a:extLst>
              <a:ext uri="{FF2B5EF4-FFF2-40B4-BE49-F238E27FC236}">
                <a16:creationId xmlns:a16="http://schemas.microsoft.com/office/drawing/2014/main" id="{DA395EC9-5212-9F09-E9FA-0AB62AFB6D99}"/>
              </a:ext>
            </a:extLst>
          </p:cNvPr>
          <p:cNvSpPr>
            <a:spLocks noGrp="1"/>
          </p:cNvSpPr>
          <p:nvPr>
            <p:ph type="dt" sz="half" idx="10"/>
          </p:nvPr>
        </p:nvSpPr>
        <p:spPr/>
        <p:txBody>
          <a:bodyPr/>
          <a:lstStyle/>
          <a:p>
            <a:fld id="{0F07AFD4-01FD-9C4B-A328-BE0BD154D696}" type="datetimeFigureOut">
              <a:rPr lang="ru-KG" smtClean="0"/>
              <a:t>16.09.2026</a:t>
            </a:fld>
            <a:endParaRPr lang="ru-KG"/>
          </a:p>
        </p:txBody>
      </p:sp>
      <p:sp>
        <p:nvSpPr>
          <p:cNvPr id="10" name="Slide Number Placeholder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a:lstStyle/>
          <a:p>
            <a:fld id="{EEA07AE3-C9D7-4B48-A79F-AA19B757F40E}" type="slidenum">
              <a:rPr lang="ru-KG" smtClean="0"/>
              <a:t>‹#›</a:t>
            </a:fld>
            <a:endParaRPr lang="ru-KG"/>
          </a:p>
        </p:txBody>
      </p:sp>
    </p:spTree>
    <p:extLst>
      <p:ext uri="{BB962C8B-B14F-4D97-AF65-F5344CB8AC3E}">
        <p14:creationId xmlns:p14="http://schemas.microsoft.com/office/powerpoint/2010/main" val="389293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a:r>
              <a:rPr lang="ru-RU"/>
              <a:t>Образец заголовка</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ru-RU"/>
              <a:t>Образец подзаголовка</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a:lstStyle>
            <a:lvl1pPr>
              <a:defRPr>
                <a:solidFill>
                  <a:schemeClr val="tx2"/>
                </a:solidFill>
              </a:defRPr>
            </a:lvl1pPr>
          </a:lstStyle>
          <a:p>
            <a:endParaRPr lang="ru-KG"/>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a:lstStyle>
            <a:lvl1pPr>
              <a:defRPr>
                <a:solidFill>
                  <a:schemeClr val="tx2"/>
                </a:solidFill>
              </a:defRPr>
            </a:lvl1pPr>
          </a:lstStyle>
          <a:p>
            <a:fld id="{0F07AFD4-01FD-9C4B-A328-BE0BD154D696}" type="datetimeFigureOut">
              <a:rPr lang="ru-KG" smtClean="0"/>
              <a:t>16.09.2026</a:t>
            </a:fld>
            <a:endParaRPr lang="ru-KG"/>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Tree>
    <p:extLst>
      <p:ext uri="{BB962C8B-B14F-4D97-AF65-F5344CB8AC3E}">
        <p14:creationId xmlns:p14="http://schemas.microsoft.com/office/powerpoint/2010/main" val="21078320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a:r>
              <a:rPr lang="ru-RU"/>
              <a:t>Образец заголовка</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a:r>
              <a:rPr lang="ru-RU"/>
              <a:t>Образец подзаголовка</a:t>
            </a:r>
            <a:endParaRPr lang="en-US" dirty="0"/>
          </a:p>
        </p:txBody>
      </p:sp>
      <p:sp>
        <p:nvSpPr>
          <p:cNvPr id="10" name="Picture Placeholder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a:lstStyle>
            <a:lvl1pPr>
              <a:defRPr>
                <a:solidFill>
                  <a:schemeClr val="tx2"/>
                </a:solidFill>
              </a:defRPr>
            </a:lvl1pPr>
          </a:lstStyle>
          <a:p>
            <a:endParaRPr lang="ru-KG"/>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a:lstStyle>
            <a:lvl1pPr>
              <a:defRPr>
                <a:solidFill>
                  <a:schemeClr val="tx2"/>
                </a:solidFill>
                <a:effectLst/>
              </a:defRPr>
            </a:lvl1pPr>
          </a:lstStyle>
          <a:p>
            <a:fld id="{0F07AFD4-01FD-9C4B-A328-BE0BD154D696}" type="datetimeFigureOut">
              <a:rPr lang="ru-KG" smtClean="0"/>
              <a:t>16.09.2026</a:t>
            </a:fld>
            <a:endParaRPr lang="ru-KG"/>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
        <p:nvSpPr>
          <p:cNvPr id="9" name="Rectangle 8">
            <a:extLst>
              <a:ext uri="{FF2B5EF4-FFF2-40B4-BE49-F238E27FC236}">
                <a16:creationId xmlns:a16="http://schemas.microsoft.com/office/drawing/2014/main" id="{F879DE85-4541-95AA-B871-7CBAD2BA1550}"/>
              </a:ext>
            </a:extLst>
          </p:cNvPr>
          <p:cNvSpPr/>
          <p:nvPr/>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530409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Заголовок раздела">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a:lstStyle>
            <a:lvl1pPr>
              <a:defRPr>
                <a:solidFill>
                  <a:schemeClr val="bg2"/>
                </a:solidFill>
              </a:defRPr>
            </a:lvl1pPr>
          </a:lstStyle>
          <a:p>
            <a:endParaRPr lang="ru-KG"/>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a:lstStyle>
            <a:lvl1pPr>
              <a:defRPr>
                <a:solidFill>
                  <a:schemeClr val="bg2"/>
                </a:solidFill>
              </a:defRPr>
            </a:lvl1pPr>
          </a:lstStyle>
          <a:p>
            <a:fld id="{0F07AFD4-01FD-9C4B-A328-BE0BD154D696}" type="datetimeFigureOut">
              <a:rPr lang="ru-KG" smtClean="0"/>
              <a:t>16.09.2026</a:t>
            </a:fld>
            <a:endParaRPr lang="ru-KG"/>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a:lstStyle>
            <a:lvl1pPr>
              <a:defRPr>
                <a:solidFill>
                  <a:schemeClr val="bg2"/>
                </a:solidFill>
              </a:defRPr>
            </a:lvl1pPr>
          </a:lstStyle>
          <a:p>
            <a:fld id="{EEA07AE3-C9D7-4B48-A79F-AA19B757F40E}" type="slidenum">
              <a:rPr lang="ru-KG" smtClean="0"/>
              <a:t>‹#›</a:t>
            </a:fld>
            <a:endParaRPr lang="ru-KG"/>
          </a:p>
        </p:txBody>
      </p:sp>
      <p:sp>
        <p:nvSpPr>
          <p:cNvPr id="32" name="Rectangle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356969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a:lstStyle>
            <a:lvl1pPr>
              <a:defRPr>
                <a:solidFill>
                  <a:schemeClr val="tx2"/>
                </a:solidFill>
              </a:defRPr>
            </a:lvl1pPr>
          </a:lstStyle>
          <a:p>
            <a:endParaRPr lang="ru-KG"/>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a:lstStyle>
            <a:lvl1pPr>
              <a:defRPr>
                <a:solidFill>
                  <a:schemeClr val="tx2"/>
                </a:solidFill>
              </a:defRPr>
            </a:lvl1pPr>
          </a:lstStyle>
          <a:p>
            <a:fld id="{0F07AFD4-01FD-9C4B-A328-BE0BD154D696}" type="datetimeFigureOut">
              <a:rPr lang="ru-KG" smtClean="0"/>
              <a:t>16.09.2026</a:t>
            </a:fld>
            <a:endParaRPr lang="ru-KG"/>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
        <p:nvSpPr>
          <p:cNvPr id="34" name="Rectangle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39945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a:normAutofit/>
          </a:bodyPr>
          <a:lstStyle>
            <a:lvl1pPr>
              <a:defRPr sz="7200" cap="all" baseline="0"/>
            </a:lvl1pPr>
          </a:lstStyle>
          <a:p>
            <a:r>
              <a:rPr lang="en-US" dirty="0"/>
              <a:t>AGENDA</a:t>
            </a:r>
          </a:p>
        </p:txBody>
      </p:sp>
      <p:sp>
        <p:nvSpPr>
          <p:cNvPr id="39" name="Picture Placeholder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a:lstStyle/>
          <a:p>
            <a:endParaRPr lang="ru-KG"/>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a:lstStyle/>
          <a:p>
            <a:fld id="{0F07AFD4-01FD-9C4B-A328-BE0BD154D696}" type="datetimeFigureOut">
              <a:rPr lang="ru-KG" smtClean="0"/>
              <a:t>16.09.2026</a:t>
            </a:fld>
            <a:endParaRPr lang="ru-KG"/>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a:lstStyle/>
          <a:p>
            <a:fld id="{EEA07AE3-C9D7-4B48-A79F-AA19B757F40E}" type="slidenum">
              <a:rPr lang="ru-KG" smtClean="0"/>
              <a:t>‹#›</a:t>
            </a:fld>
            <a:endParaRPr lang="ru-KG"/>
          </a:p>
        </p:txBody>
      </p:sp>
      <p:sp>
        <p:nvSpPr>
          <p:cNvPr id="34" name="Rectangle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09069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anchor="t">
            <a:normAutofit/>
          </a:bodyPr>
          <a:lstStyle>
            <a:lvl1pPr>
              <a:defRPr sz="3600" cap="all" baseline="0"/>
            </a:lvl1pPr>
          </a:lstStyle>
          <a:p>
            <a:r>
              <a:rPr lang="ru-RU"/>
              <a:t>Образец заголовка</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ru-KG"/>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0F07AFD4-01FD-9C4B-A328-BE0BD154D696}" type="datetimeFigureOut">
              <a:rPr lang="ru-KG" smtClean="0"/>
              <a:t>16.09.2026</a:t>
            </a:fld>
            <a:endParaRPr lang="ru-KG"/>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EEA07AE3-C9D7-4B48-A79F-AA19B757F40E}" type="slidenum">
              <a:rPr lang="ru-KG" smtClean="0"/>
              <a:t>‹#›</a:t>
            </a:fld>
            <a:endParaRPr lang="ru-KG"/>
          </a:p>
        </p:txBody>
      </p:sp>
      <p:sp>
        <p:nvSpPr>
          <p:cNvPr id="34" name="Rectangle 33">
            <a:extLst>
              <a:ext uri="{FF2B5EF4-FFF2-40B4-BE49-F238E27FC236}">
                <a16:creationId xmlns:a16="http://schemas.microsoft.com/office/drawing/2014/main" id="{9AE531BB-71E1-57EF-0879-5979B0C95458}"/>
              </a:ext>
            </a:extLst>
          </p:cNvPr>
          <p:cNvSpPr/>
          <p:nvPr/>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31FD272-0797-A5C1-BAB9-E68F518B8158}"/>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75501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anchor="t">
            <a:normAutofit/>
          </a:bodyPr>
          <a:lstStyle>
            <a:lvl1pPr>
              <a:defRPr sz="3600" cap="all" baseline="0">
                <a:latin typeface="+mj-lt"/>
              </a:defRPr>
            </a:lvl1pPr>
          </a:lstStyle>
          <a:p>
            <a:r>
              <a:rPr lang="ru-RU"/>
              <a:t>Образец заголовка</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ru-KG"/>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0F07AFD4-01FD-9C4B-A328-BE0BD154D696}" type="datetimeFigureOut">
              <a:rPr lang="ru-KG" smtClean="0"/>
              <a:t>16.09.2026</a:t>
            </a:fld>
            <a:endParaRPr lang="ru-KG"/>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EEA07AE3-C9D7-4B48-A79F-AA19B757F40E}" type="slidenum">
              <a:rPr lang="ru-KG" smtClean="0"/>
              <a:t>‹#›</a:t>
            </a:fld>
            <a:endParaRPr lang="ru-KG"/>
          </a:p>
        </p:txBody>
      </p:sp>
      <p:sp>
        <p:nvSpPr>
          <p:cNvPr id="7" name="Rectangle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E1D59CA-78A2-7B8F-A9C7-E86B47BEAE5E}"/>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6411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anchor="t"/>
          <a:lstStyle>
            <a:lvl1pPr>
              <a:defRPr cap="all" baseline="0"/>
            </a:lvl1pPr>
          </a:lstStyle>
          <a:p>
            <a:r>
              <a:rPr lang="ru-RU"/>
              <a:t>Образец заголовка</a:t>
            </a:r>
            <a:endParaRPr lang="en-US" dirty="0"/>
          </a:p>
        </p:txBody>
      </p:sp>
      <p:sp>
        <p:nvSpPr>
          <p:cNvPr id="38" name="Picture Placeholder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a:lstStyle>
            <a:lvl1pPr>
              <a:defRPr>
                <a:solidFill>
                  <a:schemeClr val="tx2"/>
                </a:solidFill>
              </a:defRPr>
            </a:lvl1pPr>
          </a:lstStyle>
          <a:p>
            <a:endParaRPr lang="ru-KG"/>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a:lstStyle>
            <a:lvl1pPr>
              <a:defRPr>
                <a:solidFill>
                  <a:schemeClr val="tx2"/>
                </a:solidFill>
              </a:defRPr>
            </a:lvl1pPr>
          </a:lstStyle>
          <a:p>
            <a:fld id="{0F07AFD4-01FD-9C4B-A328-BE0BD154D696}" type="datetimeFigureOut">
              <a:rPr lang="ru-KG" smtClean="0"/>
              <a:t>16.09.2026</a:t>
            </a:fld>
            <a:endParaRPr lang="ru-KG"/>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
        <p:nvSpPr>
          <p:cNvPr id="3" name="Freeform 2">
            <a:extLst>
              <a:ext uri="{FF2B5EF4-FFF2-40B4-BE49-F238E27FC236}">
                <a16:creationId xmlns:a16="http://schemas.microsoft.com/office/drawing/2014/main" id="{EC16BEA9-7D3A-E34B-4442-F0BFB853F3F8}"/>
              </a:ext>
            </a:extLst>
          </p:cNvPr>
          <p:cNvSpPr/>
          <p:nvPr/>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Rectangle 4">
            <a:extLst>
              <a:ext uri="{FF2B5EF4-FFF2-40B4-BE49-F238E27FC236}">
                <a16:creationId xmlns:a16="http://schemas.microsoft.com/office/drawing/2014/main" id="{A3462211-E1BA-E90A-00F8-E717C7293E42}"/>
              </a:ext>
            </a:extLst>
          </p:cNvPr>
          <p:cNvSpPr/>
          <p:nvPr/>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09757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anchor="t"/>
          <a:lstStyle>
            <a:lvl1pPr>
              <a:defRPr cap="all" baseline="0"/>
            </a:lvl1pPr>
          </a:lstStyle>
          <a:p>
            <a:r>
              <a:rPr lang="ru-RU"/>
              <a:t>Образец заголовка</a:t>
            </a:r>
            <a:endParaRPr lang="en-US" dirty="0"/>
          </a:p>
        </p:txBody>
      </p:sp>
      <p:sp>
        <p:nvSpPr>
          <p:cNvPr id="38" name="Picture Placeholder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a:lstStyle>
            <a:lvl1pPr>
              <a:defRPr>
                <a:solidFill>
                  <a:schemeClr val="tx2"/>
                </a:solidFill>
              </a:defRPr>
            </a:lvl1pPr>
          </a:lstStyle>
          <a:p>
            <a:endParaRPr lang="ru-KG"/>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a:lstStyle>
            <a:lvl1pPr>
              <a:defRPr>
                <a:solidFill>
                  <a:schemeClr val="tx2"/>
                </a:solidFill>
              </a:defRPr>
            </a:lvl1pPr>
          </a:lstStyle>
          <a:p>
            <a:fld id="{0F07AFD4-01FD-9C4B-A328-BE0BD154D696}" type="datetimeFigureOut">
              <a:rPr lang="ru-KG" smtClean="0"/>
              <a:t>16.09.2026</a:t>
            </a:fld>
            <a:endParaRPr lang="ru-KG"/>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
        <p:nvSpPr>
          <p:cNvPr id="5" name="Freeform 4">
            <a:extLst>
              <a:ext uri="{FF2B5EF4-FFF2-40B4-BE49-F238E27FC236}">
                <a16:creationId xmlns:a16="http://schemas.microsoft.com/office/drawing/2014/main" id="{ECF4FA5C-D406-8202-9143-DAEA62C5C872}"/>
              </a:ext>
            </a:extLst>
          </p:cNvPr>
          <p:cNvSpPr/>
          <p:nvPr/>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082645EB-0315-BBF0-B28C-6A31158DE8D1}"/>
              </a:ext>
            </a:extLst>
          </p:cNvPr>
          <p:cNvSpPr/>
          <p:nvPr/>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060421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anchor="t"/>
          <a:lstStyle>
            <a:lvl1pPr>
              <a:defRPr cap="all" baseline="0"/>
            </a:lvl1pPr>
          </a:lstStyle>
          <a:p>
            <a:r>
              <a:rPr lang="ru-RU"/>
              <a:t>Образец заголовка</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a:lstStyle>
            <a:lvl1pPr>
              <a:defRPr>
                <a:solidFill>
                  <a:schemeClr val="tx2"/>
                </a:solidFill>
              </a:defRPr>
            </a:lvl1pPr>
          </a:lstStyle>
          <a:p>
            <a:endParaRPr lang="ru-KG"/>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a:lstStyle>
            <a:lvl1pPr>
              <a:defRPr>
                <a:solidFill>
                  <a:schemeClr val="tx2"/>
                </a:solidFill>
              </a:defRPr>
            </a:lvl1pPr>
          </a:lstStyle>
          <a:p>
            <a:fld id="{0F07AFD4-01FD-9C4B-A328-BE0BD154D696}" type="datetimeFigureOut">
              <a:rPr lang="ru-KG" smtClean="0"/>
              <a:t>16.09.2026</a:t>
            </a:fld>
            <a:endParaRPr lang="ru-KG"/>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
        <p:nvSpPr>
          <p:cNvPr id="6" name="Picture Placeholder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E19B021D-A5A3-D515-C491-988160E0708C}"/>
              </a:ext>
            </a:extLst>
          </p:cNvPr>
          <p:cNvSpPr/>
          <p:nvPr/>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F6879252-7B61-583A-CF4D-92BF27416ADC}"/>
              </a:ext>
            </a:extLst>
          </p:cNvPr>
          <p:cNvSpPr/>
          <p:nvPr/>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586911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anchor="t">
            <a:noAutofit/>
          </a:bodyPr>
          <a:lstStyle>
            <a:lvl1pPr>
              <a:defRPr sz="3600" cap="all" baseline="0">
                <a:solidFill>
                  <a:schemeClr val="tx2"/>
                </a:solidFill>
              </a:defRPr>
            </a:lvl1pPr>
          </a:lstStyle>
          <a:p>
            <a:r>
              <a:rPr lang="ru-RU"/>
              <a:t>Образец заголовка</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a:lstStyle>
            <a:lvl1pPr>
              <a:defRPr>
                <a:solidFill>
                  <a:schemeClr val="tx2"/>
                </a:solidFill>
                <a:effectLst/>
              </a:defRPr>
            </a:lvl1pPr>
          </a:lstStyle>
          <a:p>
            <a:endParaRPr lang="ru-KG"/>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a:lstStyle>
            <a:lvl1pPr>
              <a:defRPr>
                <a:solidFill>
                  <a:schemeClr val="tx2"/>
                </a:solidFill>
              </a:defRPr>
            </a:lvl1pPr>
          </a:lstStyle>
          <a:p>
            <a:fld id="{0F07AFD4-01FD-9C4B-A328-BE0BD154D696}" type="datetimeFigureOut">
              <a:rPr lang="ru-KG" smtClean="0"/>
              <a:t>16.09.2026</a:t>
            </a:fld>
            <a:endParaRPr lang="ru-KG"/>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a:lstStyle>
            <a:lvl1pPr>
              <a:defRPr>
                <a:solidFill>
                  <a:schemeClr val="tx2"/>
                </a:solidFill>
                <a:effectLst/>
              </a:defRPr>
            </a:lvl1pPr>
          </a:lstStyle>
          <a:p>
            <a:fld id="{EEA07AE3-C9D7-4B48-A79F-AA19B757F40E}" type="slidenum">
              <a:rPr lang="ru-KG" smtClean="0"/>
              <a:t>‹#›</a:t>
            </a:fld>
            <a:endParaRPr lang="ru-KG"/>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103B3571-8BEB-7B5F-5141-60BE7E4F2B98}"/>
              </a:ext>
            </a:extLst>
          </p:cNvPr>
          <p:cNvSpPr/>
          <p:nvPr/>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0850260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anchor="t">
            <a:normAutofit/>
          </a:bodyPr>
          <a:lstStyle>
            <a:lvl1pPr>
              <a:defRPr sz="3600" cap="all" baseline="0">
                <a:solidFill>
                  <a:schemeClr val="tx2"/>
                </a:solidFill>
              </a:defRPr>
            </a:lvl1pPr>
          </a:lstStyle>
          <a:p>
            <a:r>
              <a:rPr lang="ru-RU"/>
              <a:t>Образец заголовка</a:t>
            </a:r>
            <a:endParaRPr lang="en-US" dirty="0"/>
          </a:p>
        </p:txBody>
      </p:sp>
      <p:sp>
        <p:nvSpPr>
          <p:cNvPr id="6" name="Content Placeholder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a:lstStyle>
            <a:lvl1pPr>
              <a:defRPr>
                <a:solidFill>
                  <a:schemeClr val="tx2"/>
                </a:solidFill>
              </a:defRPr>
            </a:lvl1pPr>
          </a:lstStyle>
          <a:p>
            <a:endParaRPr lang="ru-KG"/>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a:lstStyle>
            <a:lvl1pPr>
              <a:defRPr>
                <a:solidFill>
                  <a:schemeClr val="tx2"/>
                </a:solidFill>
              </a:defRPr>
            </a:lvl1pPr>
          </a:lstStyle>
          <a:p>
            <a:fld id="{0F07AFD4-01FD-9C4B-A328-BE0BD154D696}" type="datetimeFigureOut">
              <a:rPr lang="ru-KG" smtClean="0"/>
              <a:t>16.09.2026</a:t>
            </a:fld>
            <a:endParaRPr lang="ru-KG"/>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
        <p:nvSpPr>
          <p:cNvPr id="7" name="Picture Placeholder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8DC2254B-5D42-9D5B-16C8-9FAF562F458A}"/>
              </a:ext>
            </a:extLst>
          </p:cNvPr>
          <p:cNvSpPr/>
          <p:nvPr/>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2556485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anchor="t"/>
          <a:lstStyle>
            <a:lvl1pPr>
              <a:defRPr cap="all" baseline="0">
                <a:solidFill>
                  <a:schemeClr val="tx2"/>
                </a:solidFill>
              </a:defRPr>
            </a:lvl1pPr>
          </a:lstStyle>
          <a:p>
            <a:r>
              <a:rPr lang="ru-RU"/>
              <a:t>Образец заголовка</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a:lstStyle>
            <a:lvl1pPr>
              <a:defRPr>
                <a:solidFill>
                  <a:schemeClr val="tx2"/>
                </a:solidFill>
              </a:defRPr>
            </a:lvl1pPr>
          </a:lstStyle>
          <a:p>
            <a:endParaRPr lang="ru-KG"/>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a:lstStyle>
            <a:lvl1pPr>
              <a:defRPr>
                <a:solidFill>
                  <a:schemeClr val="tx2"/>
                </a:solidFill>
                <a:effectLst/>
              </a:defRPr>
            </a:lvl1pPr>
          </a:lstStyle>
          <a:p>
            <a:fld id="{0F07AFD4-01FD-9C4B-A328-BE0BD154D696}" type="datetimeFigureOut">
              <a:rPr lang="ru-KG" smtClean="0"/>
              <a:t>16.09.2026</a:t>
            </a:fld>
            <a:endParaRPr lang="ru-KG"/>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
        <p:nvSpPr>
          <p:cNvPr id="3" name="Freeform 2">
            <a:extLst>
              <a:ext uri="{FF2B5EF4-FFF2-40B4-BE49-F238E27FC236}">
                <a16:creationId xmlns:a16="http://schemas.microsoft.com/office/drawing/2014/main" id="{3AEE3D4D-61F7-E7A0-0EB4-DE705A2CAF60}"/>
              </a:ext>
            </a:extLst>
          </p:cNvPr>
          <p:cNvSpPr/>
          <p:nvPr/>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41551971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anchor="t">
            <a:normAutofit/>
          </a:bodyPr>
          <a:lstStyle>
            <a:lvl1pPr>
              <a:defRPr sz="3600" cap="all" baseline="0">
                <a:solidFill>
                  <a:schemeClr val="tx2"/>
                </a:solidFill>
              </a:defRPr>
            </a:lvl1pPr>
          </a:lstStyle>
          <a:p>
            <a:r>
              <a:rPr lang="ru-RU"/>
              <a:t>Образец заголовка</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ru-KG"/>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0F07AFD4-01FD-9C4B-A328-BE0BD154D696}" type="datetimeFigureOut">
              <a:rPr lang="ru-KG" smtClean="0"/>
              <a:t>16.09.2026</a:t>
            </a:fld>
            <a:endParaRPr lang="ru-KG"/>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Tree>
    <p:extLst>
      <p:ext uri="{BB962C8B-B14F-4D97-AF65-F5344CB8AC3E}">
        <p14:creationId xmlns:p14="http://schemas.microsoft.com/office/powerpoint/2010/main" val="17640508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anchor="t"/>
          <a:lstStyle>
            <a:lvl1pPr>
              <a:defRPr cap="all" baseline="0">
                <a:solidFill>
                  <a:schemeClr val="tx2"/>
                </a:solidFill>
              </a:defRPr>
            </a:lvl1pPr>
          </a:lstStyle>
          <a:p>
            <a:r>
              <a:rPr lang="ru-RU"/>
              <a:t>Образец заголовка</a:t>
            </a:r>
            <a:endParaRPr lang="en-US" dirty="0"/>
          </a:p>
        </p:txBody>
      </p:sp>
      <p:sp>
        <p:nvSpPr>
          <p:cNvPr id="36" name="Picture Placeholder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a:lstStyle>
            <a:lvl1pPr>
              <a:defRPr>
                <a:solidFill>
                  <a:schemeClr val="tx2"/>
                </a:solidFill>
              </a:defRPr>
            </a:lvl1pPr>
          </a:lstStyle>
          <a:p>
            <a:endParaRPr lang="ru-KG"/>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a:lstStyle>
            <a:lvl1pPr>
              <a:defRPr>
                <a:solidFill>
                  <a:schemeClr val="tx2"/>
                </a:solidFill>
              </a:defRPr>
            </a:lvl1pPr>
          </a:lstStyle>
          <a:p>
            <a:fld id="{0F07AFD4-01FD-9C4B-A328-BE0BD154D696}" type="datetimeFigureOut">
              <a:rPr lang="ru-KG" smtClean="0"/>
              <a:t>16.09.2026</a:t>
            </a:fld>
            <a:endParaRPr lang="ru-KG"/>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
        <p:nvSpPr>
          <p:cNvPr id="3" name="Rectangle 2">
            <a:extLst>
              <a:ext uri="{FF2B5EF4-FFF2-40B4-BE49-F238E27FC236}">
                <a16:creationId xmlns:a16="http://schemas.microsoft.com/office/drawing/2014/main" id="{54335081-FA52-F16F-A616-E20DA766DB57}"/>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45026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anchor="t">
            <a:noAutofit/>
          </a:bodyPr>
          <a:lstStyle>
            <a:lvl1pPr>
              <a:defRPr sz="3600" cap="all" baseline="0">
                <a:solidFill>
                  <a:schemeClr val="tx2"/>
                </a:solidFill>
              </a:defRPr>
            </a:lvl1pPr>
          </a:lstStyle>
          <a:p>
            <a:r>
              <a:rPr lang="ru-RU"/>
              <a:t>Образец заголовка</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ru-KG"/>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0F07AFD4-01FD-9C4B-A328-BE0BD154D696}" type="datetimeFigureOut">
              <a:rPr lang="ru-KG" smtClean="0"/>
              <a:t>16.09.2026</a:t>
            </a:fld>
            <a:endParaRPr lang="ru-KG"/>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
        <p:nvSpPr>
          <p:cNvPr id="3" name="Rectangle 2">
            <a:extLst>
              <a:ext uri="{FF2B5EF4-FFF2-40B4-BE49-F238E27FC236}">
                <a16:creationId xmlns:a16="http://schemas.microsoft.com/office/drawing/2014/main" id="{05CA24FE-7F15-0A35-2050-28F4CE33B91F}"/>
              </a:ext>
            </a:extLst>
          </p:cNvPr>
          <p:cNvSpPr/>
          <p:nvPr/>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CC9E0A62-7502-AFE4-4860-6DE00EB6D1D5}"/>
              </a:ext>
            </a:extLst>
          </p:cNvPr>
          <p:cNvSpPr/>
          <p:nvPr/>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88326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anchor="b">
            <a:normAutofit/>
          </a:bodyPr>
          <a:lstStyle>
            <a:lvl1pPr>
              <a:defRPr sz="2000" b="1">
                <a:solidFill>
                  <a:schemeClr val="bg1"/>
                </a:solidFill>
              </a:defRPr>
            </a:lvl1pPr>
          </a:lstStyle>
          <a:p>
            <a:r>
              <a:rPr lang="ru-RU"/>
              <a:t>Образец заголовка</a:t>
            </a:r>
            <a:endParaRPr lang="en-US" dirty="0"/>
          </a:p>
        </p:txBody>
      </p:sp>
      <p:sp>
        <p:nvSpPr>
          <p:cNvPr id="7" name="Content Placeholder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a:normAutofit/>
          </a:bodyPr>
          <a:lstStyle>
            <a:lvl1pPr marL="0" indent="0">
              <a:buNone/>
              <a:defRPr sz="30000" b="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a:lstStyle>
            <a:lvl1pPr>
              <a:defRPr>
                <a:solidFill>
                  <a:schemeClr val="bg1"/>
                </a:solidFill>
              </a:defRPr>
            </a:lvl1pPr>
          </a:lstStyle>
          <a:p>
            <a:endParaRPr lang="ru-KG"/>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a:lstStyle>
            <a:lvl1pPr>
              <a:defRPr>
                <a:solidFill>
                  <a:schemeClr val="bg1"/>
                </a:solidFill>
              </a:defRPr>
            </a:lvl1pPr>
          </a:lstStyle>
          <a:p>
            <a:fld id="{0F07AFD4-01FD-9C4B-A328-BE0BD154D696}" type="datetimeFigureOut">
              <a:rPr lang="ru-KG" smtClean="0"/>
              <a:t>16.09.2026</a:t>
            </a:fld>
            <a:endParaRPr lang="ru-KG"/>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bg1"/>
                </a:solidFill>
              </a:defRPr>
            </a:lvl1pPr>
          </a:lstStyle>
          <a:p>
            <a:fld id="{EEA07AE3-C9D7-4B48-A79F-AA19B757F40E}" type="slidenum">
              <a:rPr lang="ru-KG" smtClean="0"/>
              <a:t>‹#›</a:t>
            </a:fld>
            <a:endParaRPr lang="ru-KG"/>
          </a:p>
        </p:txBody>
      </p:sp>
      <p:sp>
        <p:nvSpPr>
          <p:cNvPr id="36" name="Rectangle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119779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ru-RU"/>
              <a:t>Образец заголовка</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a:lstStyle>
            <a:lvl1pPr>
              <a:defRPr>
                <a:solidFill>
                  <a:schemeClr val="bg2"/>
                </a:solidFill>
              </a:defRPr>
            </a:lvl1pPr>
          </a:lstStyle>
          <a:p>
            <a:endParaRPr lang="ru-KG"/>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a:lstStyle>
            <a:lvl1pPr>
              <a:defRPr>
                <a:solidFill>
                  <a:schemeClr val="bg2"/>
                </a:solidFill>
              </a:defRPr>
            </a:lvl1pPr>
          </a:lstStyle>
          <a:p>
            <a:fld id="{0F07AFD4-01FD-9C4B-A328-BE0BD154D696}" type="datetimeFigureOut">
              <a:rPr lang="ru-KG" smtClean="0"/>
              <a:t>16.09.2026</a:t>
            </a:fld>
            <a:endParaRPr lang="ru-KG"/>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a:lstStyle>
            <a:lvl1pPr>
              <a:defRPr>
                <a:solidFill>
                  <a:schemeClr val="bg2"/>
                </a:solidFill>
              </a:defRPr>
            </a:lvl1pPr>
          </a:lstStyle>
          <a:p>
            <a:fld id="{EEA07AE3-C9D7-4B48-A79F-AA19B757F40E}" type="slidenum">
              <a:rPr lang="ru-KG" smtClean="0"/>
              <a:t>‹#›</a:t>
            </a:fld>
            <a:endParaRPr lang="ru-KG"/>
          </a:p>
        </p:txBody>
      </p:sp>
      <p:sp>
        <p:nvSpPr>
          <p:cNvPr id="6" name="Rectangle 5">
            <a:extLst>
              <a:ext uri="{FF2B5EF4-FFF2-40B4-BE49-F238E27FC236}">
                <a16:creationId xmlns:a16="http://schemas.microsoft.com/office/drawing/2014/main" id="{F810F272-8DCB-3D9F-8EA6-FBDD6B7DFDA3}"/>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38ED97-EB88-D071-C45A-D0C32569D40D}"/>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44355875"/>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endParaRPr lang="ru-KG"/>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a:lstStyle/>
          <a:p>
            <a:fld id="{0F07AFD4-01FD-9C4B-A328-BE0BD154D696}" type="datetimeFigureOut">
              <a:rPr lang="ru-KG" smtClean="0"/>
              <a:t>16.09.2026</a:t>
            </a:fld>
            <a:endParaRPr lang="ru-KG"/>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a:lstStyle/>
          <a:p>
            <a:fld id="{EEA07AE3-C9D7-4B48-A79F-AA19B757F40E}" type="slidenum">
              <a:rPr lang="ru-KG" smtClean="0"/>
              <a:t>‹#›</a:t>
            </a:fld>
            <a:endParaRPr lang="ru-KG"/>
          </a:p>
        </p:txBody>
      </p:sp>
      <p:sp>
        <p:nvSpPr>
          <p:cNvPr id="34" name="Rectangle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23608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Два объекта">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anchor="t"/>
          <a:lstStyle>
            <a:lvl1pPr>
              <a:defRPr cap="all" baseline="0"/>
            </a:lvl1pPr>
          </a:lstStyle>
          <a:p>
            <a:r>
              <a:rPr lang="ru-RU"/>
              <a:t>Образец заголовка</a:t>
            </a:r>
            <a:endParaRPr lang="en-US" dirty="0"/>
          </a:p>
        </p:txBody>
      </p:sp>
      <p:sp>
        <p:nvSpPr>
          <p:cNvPr id="37" name="Content Placeholder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38" name="Content Placeholder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a:lstStyle/>
          <a:p>
            <a:endParaRPr lang="ru-KG"/>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a:lstStyle/>
          <a:p>
            <a:fld id="{0F07AFD4-01FD-9C4B-A328-BE0BD154D696}" type="datetimeFigureOut">
              <a:rPr lang="ru-KG" smtClean="0"/>
              <a:t>16.09.2026</a:t>
            </a:fld>
            <a:endParaRPr lang="ru-KG"/>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a:lstStyle/>
          <a:p>
            <a:fld id="{EEA07AE3-C9D7-4B48-A79F-AA19B757F40E}" type="slidenum">
              <a:rPr lang="ru-KG" smtClean="0"/>
              <a:t>‹#›</a:t>
            </a:fld>
            <a:endParaRPr lang="ru-KG"/>
          </a:p>
        </p:txBody>
      </p:sp>
      <p:sp>
        <p:nvSpPr>
          <p:cNvPr id="8" name="Rectangle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459412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Сравнение">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anchor="t"/>
          <a:lstStyle>
            <a:lvl1pPr>
              <a:defRPr cap="all" baseline="0"/>
            </a:lvl1pPr>
          </a:lstStyle>
          <a:p>
            <a:r>
              <a:rPr lang="ru-RU"/>
              <a:t>Образец заголовка</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a:lstStyle/>
          <a:p>
            <a:endParaRPr lang="ru-KG"/>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a:lstStyle/>
          <a:p>
            <a:fld id="{0F07AFD4-01FD-9C4B-A328-BE0BD154D696}" type="datetimeFigureOut">
              <a:rPr lang="ru-KG" smtClean="0"/>
              <a:t>16.09.2026</a:t>
            </a:fld>
            <a:endParaRPr lang="ru-KG"/>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a:lstStyle/>
          <a:p>
            <a:fld id="{EEA07AE3-C9D7-4B48-A79F-AA19B757F40E}" type="slidenum">
              <a:rPr lang="ru-KG" smtClean="0"/>
              <a:t>‹#›</a:t>
            </a:fld>
            <a:endParaRPr lang="ru-KG"/>
          </a:p>
        </p:txBody>
      </p:sp>
      <p:sp>
        <p:nvSpPr>
          <p:cNvPr id="37" name="Rectangle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243674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Только заголовок">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anchor="t"/>
          <a:lstStyle>
            <a:lvl1pPr>
              <a:defRPr cap="all" baseline="0">
                <a:solidFill>
                  <a:schemeClr val="tx2"/>
                </a:solidFill>
              </a:defRPr>
            </a:lvl1pPr>
          </a:lstStyle>
          <a:p>
            <a:r>
              <a:rPr lang="ru-RU"/>
              <a:t>Образец заголовка</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ru-KG"/>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0F07AFD4-01FD-9C4B-A328-BE0BD154D696}" type="datetimeFigureOut">
              <a:rPr lang="ru-KG" smtClean="0"/>
              <a:t>16.09.2026</a:t>
            </a:fld>
            <a:endParaRPr lang="ru-KG"/>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
        <p:nvSpPr>
          <p:cNvPr id="6" name="Rectangle 5">
            <a:extLst>
              <a:ext uri="{FF2B5EF4-FFF2-40B4-BE49-F238E27FC236}">
                <a16:creationId xmlns:a16="http://schemas.microsoft.com/office/drawing/2014/main" id="{D0F7BCB4-DC28-7382-4A0F-0498411C4247}"/>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DB5560D8-36FC-D0D1-04BB-54F2CCBC8B5E}"/>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577897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a:lstStyle/>
          <a:p>
            <a:endParaRPr lang="ru-KG"/>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a:lstStyle/>
          <a:p>
            <a:fld id="{0F07AFD4-01FD-9C4B-A328-BE0BD154D696}" type="datetimeFigureOut">
              <a:rPr lang="ru-KG" smtClean="0"/>
              <a:t>16.09.2026</a:t>
            </a:fld>
            <a:endParaRPr lang="ru-KG"/>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a:lstStyle/>
          <a:p>
            <a:fld id="{EEA07AE3-C9D7-4B48-A79F-AA19B757F40E}" type="slidenum">
              <a:rPr lang="ru-KG" smtClean="0"/>
              <a:t>‹#›</a:t>
            </a:fld>
            <a:endParaRPr lang="ru-KG"/>
          </a:p>
        </p:txBody>
      </p:sp>
    </p:spTree>
    <p:extLst>
      <p:ext uri="{BB962C8B-B14F-4D97-AF65-F5344CB8AC3E}">
        <p14:creationId xmlns:p14="http://schemas.microsoft.com/office/powerpoint/2010/main" val="2234962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anchor="t">
            <a:noAutofit/>
          </a:bodyPr>
          <a:lstStyle>
            <a:lvl1pPr>
              <a:defRPr sz="7200" cap="all" baseline="0">
                <a:solidFill>
                  <a:schemeClr val="tx2"/>
                </a:solidFill>
              </a:defRPr>
            </a:lvl1pPr>
          </a:lstStyle>
          <a:p>
            <a:r>
              <a:rPr lang="ru-RU"/>
              <a:t>Образец заголовка</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ru-KG"/>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a:lstStyle>
            <a:lvl1pPr>
              <a:defRPr>
                <a:solidFill>
                  <a:schemeClr val="tx2"/>
                </a:solidFill>
              </a:defRPr>
            </a:lvl1pPr>
          </a:lstStyle>
          <a:p>
            <a:fld id="{0F07AFD4-01FD-9C4B-A328-BE0BD154D696}" type="datetimeFigureOut">
              <a:rPr lang="ru-KG" smtClean="0"/>
              <a:t>16.09.2026</a:t>
            </a:fld>
            <a:endParaRPr lang="ru-KG"/>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
        <p:nvSpPr>
          <p:cNvPr id="34" name="Rectangle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35" name="Rectangle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9748471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anchor="t">
            <a:noAutofit/>
          </a:bodyPr>
          <a:lstStyle>
            <a:lvl1pPr>
              <a:defRPr sz="7200" cap="all" baseline="0">
                <a:solidFill>
                  <a:schemeClr val="tx2"/>
                </a:solidFill>
              </a:defRPr>
            </a:lvl1pPr>
          </a:lstStyle>
          <a:p>
            <a:r>
              <a:rPr lang="ru-RU"/>
              <a:t>Образец заголовка</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a:lstStyle>
            <a:lvl1pPr>
              <a:defRPr>
                <a:solidFill>
                  <a:schemeClr val="tx2"/>
                </a:solidFill>
              </a:defRPr>
            </a:lvl1pPr>
          </a:lstStyle>
          <a:p>
            <a:endParaRPr lang="ru-KG"/>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0F07AFD4-01FD-9C4B-A328-BE0BD154D696}" type="datetimeFigureOut">
              <a:rPr lang="ru-KG" smtClean="0"/>
              <a:t>16.09.2026</a:t>
            </a:fld>
            <a:endParaRPr lang="ru-KG"/>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a:lstStyle>
            <a:lvl1pPr>
              <a:defRPr>
                <a:solidFill>
                  <a:schemeClr val="tx2"/>
                </a:solidFill>
              </a:defRPr>
            </a:lvl1pPr>
          </a:lstStyle>
          <a:p>
            <a:fld id="{EEA07AE3-C9D7-4B48-A79F-AA19B757F40E}" type="slidenum">
              <a:rPr lang="ru-KG" smtClean="0"/>
              <a:t>‹#›</a:t>
            </a:fld>
            <a:endParaRPr lang="ru-KG"/>
          </a:p>
        </p:txBody>
      </p:sp>
      <p:sp>
        <p:nvSpPr>
          <p:cNvPr id="58" name="Rectangle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488155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endParaRPr lang="ru-KG"/>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0F07AFD4-01FD-9C4B-A328-BE0BD154D696}" type="datetimeFigureOut">
              <a:rPr lang="ru-KG" smtClean="0"/>
              <a:t>16.09.2026</a:t>
            </a:fld>
            <a:endParaRPr lang="ru-KG"/>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EEA07AE3-C9D7-4B48-A79F-AA19B757F40E}" type="slidenum">
              <a:rPr lang="ru-KG" smtClean="0"/>
              <a:t>‹#›</a:t>
            </a:fld>
            <a:endParaRPr lang="ru-KG"/>
          </a:p>
        </p:txBody>
      </p:sp>
    </p:spTree>
    <p:extLst>
      <p:ext uri="{BB962C8B-B14F-4D97-AF65-F5344CB8AC3E}">
        <p14:creationId xmlns:p14="http://schemas.microsoft.com/office/powerpoint/2010/main" val="442429522"/>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 id="2147483856" r:id="rId14"/>
    <p:sldLayoutId id="2147483857" r:id="rId15"/>
    <p:sldLayoutId id="2147483858" r:id="rId16"/>
    <p:sldLayoutId id="2147483859" r:id="rId17"/>
    <p:sldLayoutId id="2147483860" r:id="rId18"/>
    <p:sldLayoutId id="2147483861" r:id="rId19"/>
    <p:sldLayoutId id="2147483862" r:id="rId20"/>
    <p:sldLayoutId id="2147483863" r:id="rId21"/>
    <p:sldLayoutId id="2147483864" r:id="rId22"/>
    <p:sldLayoutId id="2147483865" r:id="rId23"/>
    <p:sldLayoutId id="2147483866" r:id="rId24"/>
    <p:sldLayoutId id="2147483867" r:id="rId25"/>
    <p:sldLayoutId id="2147483868" r:id="rId26"/>
    <p:sldLayoutId id="2147483869" r:id="rId27"/>
  </p:sldLayoutIdLst>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p15:clr>
            <a:srgbClr val="F26B43"/>
          </p15:clr>
        </p15:guide>
        <p15:guide id="31" pos="3840">
          <p15:clr>
            <a:srgbClr val="F26B43"/>
          </p15:clr>
        </p15:guide>
        <p15:guide id="32" pos="336">
          <p15:clr>
            <a:srgbClr val="F26B43"/>
          </p15:clr>
        </p15:guide>
        <p15:guide id="33" pos="7344">
          <p15:clr>
            <a:srgbClr val="F26B43"/>
          </p15:clr>
        </p15:guide>
        <p15:guide id="34" orient="horz" pos="4080">
          <p15:clr>
            <a:srgbClr val="F26B43"/>
          </p15:clr>
        </p15:guide>
        <p15:guide id="35" orient="horz" pos="1344">
          <p15:clr>
            <a:srgbClr val="F26B43"/>
          </p15:clr>
        </p15:guide>
        <p15:guide id="36" orient="horz" pos="3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06_5A2E750B.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g"/><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jp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8.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8.xml"/><Relationship Id="rId6" Type="http://schemas.openxmlformats.org/officeDocument/2006/relationships/image" Target="../media/image21.JPG"/><Relationship Id="rId5" Type="http://schemas.openxmlformats.org/officeDocument/2006/relationships/image" Target="../media/image20.png"/><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31.png"/><Relationship Id="rId18" Type="http://schemas.openxmlformats.org/officeDocument/2006/relationships/customXml" Target="../ink/ink7.xml"/><Relationship Id="rId3" Type="http://schemas.openxmlformats.org/officeDocument/2006/relationships/image" Target="../media/image25.jpg"/><Relationship Id="rId21" Type="http://schemas.openxmlformats.org/officeDocument/2006/relationships/image" Target="../media/image35.png"/><Relationship Id="rId7" Type="http://schemas.openxmlformats.org/officeDocument/2006/relationships/image" Target="../media/image28.png"/><Relationship Id="rId12" Type="http://schemas.openxmlformats.org/officeDocument/2006/relationships/customXml" Target="../ink/ink4.xml"/><Relationship Id="rId17" Type="http://schemas.openxmlformats.org/officeDocument/2006/relationships/image" Target="../media/image33.png"/><Relationship Id="rId25" Type="http://schemas.openxmlformats.org/officeDocument/2006/relationships/image" Target="../media/image37.png"/><Relationship Id="rId2" Type="http://schemas.openxmlformats.org/officeDocument/2006/relationships/image" Target="../media/image24.jpg"/><Relationship Id="rId16" Type="http://schemas.openxmlformats.org/officeDocument/2006/relationships/customXml" Target="../ink/ink6.xml"/><Relationship Id="rId20" Type="http://schemas.openxmlformats.org/officeDocument/2006/relationships/customXml" Target="../ink/ink8.xml"/><Relationship Id="rId1" Type="http://schemas.openxmlformats.org/officeDocument/2006/relationships/slideLayout" Target="../slideLayouts/slideLayout8.xml"/><Relationship Id="rId6" Type="http://schemas.openxmlformats.org/officeDocument/2006/relationships/customXml" Target="../ink/ink1.xml"/><Relationship Id="rId11" Type="http://schemas.openxmlformats.org/officeDocument/2006/relationships/image" Target="../media/image30.png"/><Relationship Id="rId24" Type="http://schemas.openxmlformats.org/officeDocument/2006/relationships/customXml" Target="../ink/ink10.xml"/><Relationship Id="rId5" Type="http://schemas.openxmlformats.org/officeDocument/2006/relationships/image" Target="../media/image27.jpg"/><Relationship Id="rId15" Type="http://schemas.openxmlformats.org/officeDocument/2006/relationships/image" Target="../media/image32.png"/><Relationship Id="rId23" Type="http://schemas.openxmlformats.org/officeDocument/2006/relationships/image" Target="../media/image36.png"/><Relationship Id="rId10" Type="http://schemas.openxmlformats.org/officeDocument/2006/relationships/customXml" Target="../ink/ink3.xml"/><Relationship Id="rId19" Type="http://schemas.openxmlformats.org/officeDocument/2006/relationships/image" Target="../media/image34.png"/><Relationship Id="rId4" Type="http://schemas.openxmlformats.org/officeDocument/2006/relationships/image" Target="../media/image26.jpg"/><Relationship Id="rId9" Type="http://schemas.openxmlformats.org/officeDocument/2006/relationships/image" Target="../media/image29.png"/><Relationship Id="rId14" Type="http://schemas.openxmlformats.org/officeDocument/2006/relationships/customXml" Target="../ink/ink5.xml"/><Relationship Id="rId22" Type="http://schemas.openxmlformats.org/officeDocument/2006/relationships/customXml" Target="../ink/ink9.xml"/></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8.xml"/><Relationship Id="rId6" Type="http://schemas.openxmlformats.org/officeDocument/2006/relationships/image" Target="../media/image38.png"/><Relationship Id="rId5" Type="http://schemas.openxmlformats.org/officeDocument/2006/relationships/image" Target="../media/image31.jpeg"/><Relationship Id="rId4" Type="http://schemas.openxmlformats.org/officeDocument/2006/relationships/image" Target="../media/image30.jpg"/></Relationships>
</file>

<file path=ppt/slides/_rels/slide16.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8.xml"/><Relationship Id="rId6" Type="http://schemas.openxmlformats.org/officeDocument/2006/relationships/image" Target="../media/image43.jpg"/><Relationship Id="rId5" Type="http://schemas.openxmlformats.org/officeDocument/2006/relationships/image" Target="../media/image42.jpg"/><Relationship Id="rId4" Type="http://schemas.openxmlformats.org/officeDocument/2006/relationships/image" Target="../media/image4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FEFF7E-FE2D-F816-0E06-ADAF3CF250AA}"/>
              </a:ext>
            </a:extLst>
          </p:cNvPr>
          <p:cNvSpPr>
            <a:spLocks noGrp="1"/>
          </p:cNvSpPr>
          <p:nvPr>
            <p:ph type="ctrTitle"/>
          </p:nvPr>
        </p:nvSpPr>
        <p:spPr>
          <a:xfrm>
            <a:off x="1577005" y="1016955"/>
            <a:ext cx="9140954" cy="3346590"/>
          </a:xfrm>
          <a:solidFill>
            <a:schemeClr val="accent2"/>
          </a:solidFill>
        </p:spPr>
        <p:txBody>
          <a:bodyPr anchor="t">
            <a:normAutofit/>
          </a:bodyPr>
          <a:lstStyle/>
          <a:p>
            <a:r>
              <a:rPr lang="en-US" dirty="0"/>
              <a:t>Updater academy</a:t>
            </a:r>
          </a:p>
        </p:txBody>
      </p:sp>
      <p:sp>
        <p:nvSpPr>
          <p:cNvPr id="16" name="Subtitle 2">
            <a:extLst>
              <a:ext uri="{FF2B5EF4-FFF2-40B4-BE49-F238E27FC236}">
                <a16:creationId xmlns:a16="http://schemas.microsoft.com/office/drawing/2014/main" id="{2306B860-EB84-3FD2-9EA7-12FCB24B6D78}"/>
              </a:ext>
            </a:extLst>
          </p:cNvPr>
          <p:cNvSpPr>
            <a:spLocks noGrp="1"/>
          </p:cNvSpPr>
          <p:nvPr>
            <p:ph type="subTitle" idx="1"/>
          </p:nvPr>
        </p:nvSpPr>
        <p:spPr>
          <a:xfrm>
            <a:off x="3259394" y="3790335"/>
            <a:ext cx="7355599" cy="2065949"/>
          </a:xfrm>
          <a:ln>
            <a:solidFill>
              <a:schemeClr val="accent1"/>
            </a:solidFill>
          </a:ln>
        </p:spPr>
        <p:txBody>
          <a:bodyPr>
            <a:normAutofit fontScale="92500" lnSpcReduction="20000"/>
          </a:bodyPr>
          <a:lstStyle/>
          <a:p>
            <a:r>
              <a:rPr lang="ru-KG" dirty="0"/>
              <a:t>Цель курса Updater Academy заключается в том, чтобы с нуля подготовить человека к практической работе Updater в американской trucking company и научить его самостоятельно вести load от начала до конца.</a:t>
            </a:r>
          </a:p>
          <a:p>
            <a:r>
              <a:rPr lang="ru-KG" dirty="0"/>
              <a:t>После прохождения курса ученик должен не просто знать термины, а понимать, что делать в каждой рабочей ситуации: где искать информацию, что проверять, с кем связываться и какие действия выполнять по порядку.</a:t>
            </a:r>
          </a:p>
          <a:p>
            <a:endParaRPr lang="en-US" dirty="0"/>
          </a:p>
        </p:txBody>
      </p:sp>
    </p:spTree>
    <p:extLst>
      <p:ext uri="{BB962C8B-B14F-4D97-AF65-F5344CB8AC3E}">
        <p14:creationId xmlns:p14="http://schemas.microsoft.com/office/powerpoint/2010/main" val="1241670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Содержание</a:t>
            </a:r>
            <a:endParaRPr/>
          </a:p>
        </p:txBody>
      </p:sp>
      <p:sp>
        <p:nvSpPr>
          <p:cNvPr id="3" name="Content Placeholder 2"/>
          <p:cNvSpPr>
            <a:spLocks noGrp="1"/>
          </p:cNvSpPr>
          <p:nvPr>
            <p:ph sz="quarter" idx="13"/>
          </p:nvPr>
        </p:nvSpPr>
        <p:spPr/>
        <p:txBody>
          <a:bodyPr wrap="square">
            <a:normAutofit/>
          </a:bodyPr>
          <a:lstStyle/>
          <a:p>
            <a:pPr>
              <a:buNone/>
            </a:pPr>
            <a:r>
              <a:rPr dirty="0"/>
              <a:t>1. </a:t>
            </a:r>
            <a:r>
              <a:rPr dirty="0" err="1"/>
              <a:t>Кто</a:t>
            </a:r>
            <a:r>
              <a:rPr dirty="0"/>
              <a:t> </a:t>
            </a:r>
            <a:r>
              <a:rPr dirty="0" err="1"/>
              <a:t>такой</a:t>
            </a:r>
            <a:r>
              <a:rPr dirty="0"/>
              <a:t> Updater</a:t>
            </a:r>
          </a:p>
          <a:p>
            <a:pPr>
              <a:buNone/>
            </a:pPr>
            <a:r>
              <a:rPr dirty="0"/>
              <a:t>2. Amazon Relay</a:t>
            </a:r>
          </a:p>
          <a:p>
            <a:pPr>
              <a:buNone/>
            </a:pPr>
            <a:r>
              <a:rPr dirty="0"/>
              <a:t>3. DAT / Street Loads</a:t>
            </a:r>
          </a:p>
          <a:p>
            <a:pPr>
              <a:buNone/>
            </a:pPr>
            <a:r>
              <a:rPr dirty="0"/>
              <a:t>4. </a:t>
            </a:r>
            <a:r>
              <a:rPr lang="ru-RU" dirty="0"/>
              <a:t>Инструменты для </a:t>
            </a:r>
            <a:r>
              <a:rPr lang="ru-RU" dirty="0" err="1"/>
              <a:t>апдейтора</a:t>
            </a:r>
            <a:endParaRPr dirty="0"/>
          </a:p>
          <a:p>
            <a:pPr>
              <a:buNone/>
            </a:pPr>
            <a:r>
              <a:rPr lang="ru-RU" dirty="0"/>
              <a:t>5</a:t>
            </a:r>
            <a:r>
              <a:rPr dirty="0"/>
              <a:t>. </a:t>
            </a:r>
            <a:r>
              <a:rPr lang="ru-RU" dirty="0"/>
              <a:t>Взаимодействия с другими структурами</a:t>
            </a:r>
          </a:p>
          <a:p>
            <a:pPr>
              <a:buNone/>
            </a:pPr>
            <a:r>
              <a:rPr lang="ru-KG" dirty="0"/>
              <a:t>6</a:t>
            </a:r>
            <a:r>
              <a:rPr lang="en-US" dirty="0"/>
              <a:t>.</a:t>
            </a:r>
            <a:r>
              <a:rPr lang="ru-RU" dirty="0"/>
              <a:t> </a:t>
            </a:r>
            <a:r>
              <a:rPr lang="ru-RU" dirty="0" err="1"/>
              <a:t>Глассарий</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a:t>1.</a:t>
            </a:r>
            <a:r>
              <a:rPr dirty="0"/>
              <a:t>Updater </a:t>
            </a:r>
            <a:r>
              <a:rPr dirty="0" err="1"/>
              <a:t>держит</a:t>
            </a:r>
            <a:r>
              <a:rPr dirty="0"/>
              <a:t> load </a:t>
            </a:r>
            <a:r>
              <a:rPr dirty="0" err="1"/>
              <a:t>под</a:t>
            </a:r>
            <a:r>
              <a:rPr dirty="0"/>
              <a:t> </a:t>
            </a:r>
            <a:r>
              <a:rPr dirty="0" err="1"/>
              <a:t>контролем</a:t>
            </a:r>
            <a:r>
              <a:rPr dirty="0"/>
              <a:t> </a:t>
            </a:r>
            <a:r>
              <a:rPr dirty="0" err="1"/>
              <a:t>от</a:t>
            </a:r>
            <a:r>
              <a:rPr dirty="0"/>
              <a:t> Pickup </a:t>
            </a:r>
            <a:r>
              <a:rPr dirty="0" err="1"/>
              <a:t>до</a:t>
            </a:r>
            <a:r>
              <a:rPr dirty="0"/>
              <a:t> Delivery</a:t>
            </a:r>
          </a:p>
        </p:txBody>
      </p:sp>
      <p:sp>
        <p:nvSpPr>
          <p:cNvPr id="3" name="Content Placeholder 2"/>
          <p:cNvSpPr>
            <a:spLocks noGrp="1"/>
          </p:cNvSpPr>
          <p:nvPr>
            <p:ph sz="quarter" idx="15"/>
          </p:nvPr>
        </p:nvSpPr>
        <p:spPr>
          <a:xfrm>
            <a:off x="530352" y="1874519"/>
            <a:ext cx="3401568" cy="3520440"/>
          </a:xfrm>
        </p:spPr>
        <p:txBody>
          <a:bodyPr wrap="square" lIns="0" tIns="0" rIns="109728" bIns="0" anchor="t">
            <a:normAutofit lnSpcReduction="10000"/>
          </a:bodyPr>
          <a:lstStyle/>
          <a:p>
            <a:pPr>
              <a:spcAft>
                <a:spcPts val="1400"/>
              </a:spcAft>
              <a:buNone/>
            </a:pPr>
            <a:r>
              <a:rPr lang="ru-RU" sz="1700" b="1" dirty="0"/>
              <a:t>СУТЬ РОЛИ</a:t>
            </a:r>
          </a:p>
          <a:p>
            <a:pPr>
              <a:spcAft>
                <a:spcPts val="1800"/>
              </a:spcAft>
              <a:buNone/>
            </a:pPr>
            <a:r>
              <a:rPr lang="en" sz="1800" b="1" dirty="0"/>
              <a:t>Updater </a:t>
            </a:r>
            <a:r>
              <a:rPr lang="ru-RU" sz="1800" b="1" dirty="0"/>
              <a:t>обеспечивает постоянную видимость состояния </a:t>
            </a:r>
            <a:r>
              <a:rPr lang="en" sz="1800" b="1" dirty="0"/>
              <a:t>load: </a:t>
            </a:r>
            <a:r>
              <a:rPr lang="ru-RU" sz="1800" b="1" dirty="0"/>
              <a:t>где </a:t>
            </a:r>
            <a:r>
              <a:rPr lang="en" sz="1800" b="1" dirty="0"/>
              <a:t>driver, </a:t>
            </a:r>
            <a:r>
              <a:rPr lang="ru-RU" sz="1800" b="1" dirty="0"/>
              <a:t>успевает ли он по расписанию и что может повлиять на доставку.</a:t>
            </a:r>
          </a:p>
          <a:p>
            <a:pPr>
              <a:spcAft>
                <a:spcPts val="0"/>
              </a:spcAft>
              <a:buNone/>
            </a:pPr>
            <a:r>
              <a:rPr lang="ru-RU" sz="1700" b="0" dirty="0"/>
              <a:t>Главная ценность — заметить риск заранее, оценить его влияние на </a:t>
            </a:r>
            <a:r>
              <a:rPr lang="en" sz="1700" b="0" dirty="0"/>
              <a:t>ETA </a:t>
            </a:r>
            <a:r>
              <a:rPr lang="ru-RU" sz="1700" b="0" dirty="0"/>
              <a:t>и вовремя передать изменение нужному человеку.</a:t>
            </a:r>
          </a:p>
        </p:txBody>
      </p:sp>
      <p:sp>
        <p:nvSpPr>
          <p:cNvPr id="4" name="Content Placeholder 3"/>
          <p:cNvSpPr>
            <a:spLocks noGrp="1"/>
          </p:cNvSpPr>
          <p:nvPr>
            <p:ph sz="quarter" idx="16"/>
          </p:nvPr>
        </p:nvSpPr>
        <p:spPr>
          <a:xfrm>
            <a:off x="4224528" y="1874519"/>
            <a:ext cx="3639312" cy="3520440"/>
          </a:xfrm>
        </p:spPr>
        <p:txBody>
          <a:bodyPr wrap="square" lIns="0" tIns="0" rIns="109728" bIns="0" anchor="t">
            <a:normAutofit lnSpcReduction="10000"/>
          </a:bodyPr>
          <a:lstStyle/>
          <a:p>
            <a:pPr>
              <a:spcAft>
                <a:spcPts val="1200"/>
              </a:spcAft>
              <a:buNone/>
            </a:pPr>
            <a:r>
              <a:rPr lang="ru-RU" sz="1600" b="1"/>
              <a:t>В ТЕЧЕНИЕ СМЕНЫ</a:t>
            </a:r>
          </a:p>
          <a:p>
            <a:pPr>
              <a:spcAft>
                <a:spcPts val="700"/>
              </a:spcAft>
              <a:buNone/>
            </a:pPr>
            <a:r>
              <a:rPr lang="ru-RU" sz="1600" b="0"/>
              <a:t>—  </a:t>
            </a:r>
            <a:r>
              <a:rPr lang="en" sz="1600" b="0"/>
              <a:t>Load, location </a:t>
            </a:r>
            <a:r>
              <a:rPr lang="ru-RU" sz="1600" b="0"/>
              <a:t>и движение </a:t>
            </a:r>
            <a:r>
              <a:rPr lang="en" sz="1600" b="0"/>
              <a:t>truck</a:t>
            </a:r>
          </a:p>
          <a:p>
            <a:pPr>
              <a:spcAft>
                <a:spcPts val="700"/>
              </a:spcAft>
              <a:buNone/>
            </a:pPr>
            <a:r>
              <a:rPr lang="en" sz="1600" b="0"/>
              <a:t>—  ETA, Pickup </a:t>
            </a:r>
            <a:r>
              <a:rPr lang="ru-RU" sz="1600" b="0"/>
              <a:t>и </a:t>
            </a:r>
            <a:r>
              <a:rPr lang="en" sz="1600" b="0"/>
              <a:t>Delivery appointment</a:t>
            </a:r>
          </a:p>
          <a:p>
            <a:pPr>
              <a:spcAft>
                <a:spcPts val="700"/>
              </a:spcAft>
              <a:buNone/>
            </a:pPr>
            <a:r>
              <a:rPr lang="en" sz="1600" b="0"/>
              <a:t>—  Updates </a:t>
            </a:r>
            <a:r>
              <a:rPr lang="ru-RU" sz="1600" b="0"/>
              <a:t>и остановки </a:t>
            </a:r>
            <a:r>
              <a:rPr lang="en" sz="1600" b="0"/>
              <a:t>driver</a:t>
            </a:r>
          </a:p>
          <a:p>
            <a:pPr>
              <a:spcAft>
                <a:spcPts val="700"/>
              </a:spcAft>
              <a:buNone/>
            </a:pPr>
            <a:r>
              <a:rPr lang="en" sz="1600" b="0"/>
              <a:t>—  Traffic, breakdown, weather, HOS </a:t>
            </a:r>
            <a:r>
              <a:rPr lang="ru-RU" sz="1600" b="0"/>
              <a:t>и </a:t>
            </a:r>
            <a:r>
              <a:rPr lang="en" sz="1600" b="0"/>
              <a:t>facility delays</a:t>
            </a:r>
          </a:p>
          <a:p>
            <a:pPr>
              <a:spcAft>
                <a:spcPts val="700"/>
              </a:spcAft>
              <a:buNone/>
            </a:pPr>
            <a:r>
              <a:rPr lang="en" sz="1600" b="0"/>
              <a:t>—  Dispatcher, broker, Amazon </a:t>
            </a:r>
            <a:r>
              <a:rPr lang="ru-RU" sz="1600" b="0"/>
              <a:t>и внутренние отделы</a:t>
            </a:r>
          </a:p>
          <a:p>
            <a:pPr>
              <a:spcAft>
                <a:spcPts val="700"/>
              </a:spcAft>
              <a:buNone/>
            </a:pPr>
            <a:r>
              <a:rPr lang="ru-RU" sz="1600" b="0"/>
              <a:t>—  </a:t>
            </a:r>
            <a:r>
              <a:rPr lang="en" sz="1600" b="0"/>
              <a:t>BOL, POD, receipts </a:t>
            </a:r>
            <a:r>
              <a:rPr lang="ru-RU" sz="1600" b="0"/>
              <a:t>и другие документы</a:t>
            </a:r>
          </a:p>
        </p:txBody>
      </p:sp>
      <p:sp>
        <p:nvSpPr>
          <p:cNvPr id="5" name="TextBox 4"/>
          <p:cNvSpPr txBox="1"/>
          <p:nvPr/>
        </p:nvSpPr>
        <p:spPr>
          <a:xfrm>
            <a:off x="530352" y="5623560"/>
            <a:ext cx="10744200" cy="502920"/>
          </a:xfrm>
          <a:prstGeom prst="rect">
            <a:avLst/>
          </a:prstGeom>
          <a:noFill/>
        </p:spPr>
        <p:txBody>
          <a:bodyPr wrap="square" lIns="0" tIns="0" rIns="0" bIns="0">
            <a:spAutoFit/>
          </a:bodyPr>
          <a:lstStyle/>
          <a:p>
            <a:pPr algn="ctr">
              <a:spcAft>
                <a:spcPts val="0"/>
              </a:spcAft>
              <a:buNone/>
            </a:pPr>
            <a:r>
              <a:rPr sz="1800" b="1"/>
              <a:t>TRACK  →  CHECK  →  CALCULATE  →  COMMUNICATE  →  UPDATE  →  CONTROL</a:t>
            </a:r>
          </a:p>
        </p:txBody>
      </p:sp>
      <p:sp>
        <p:nvSpPr>
          <p:cNvPr id="6" name="TextBox 5"/>
          <p:cNvSpPr txBox="1"/>
          <p:nvPr/>
        </p:nvSpPr>
        <p:spPr>
          <a:xfrm>
            <a:off x="530352" y="6510528"/>
            <a:ext cx="10744200" cy="201168"/>
          </a:xfrm>
          <a:prstGeom prst="rect">
            <a:avLst/>
          </a:prstGeom>
          <a:noFill/>
        </p:spPr>
        <p:txBody>
          <a:bodyPr wrap="square" lIns="0" tIns="0" rIns="0" bIns="0">
            <a:spAutoFit/>
          </a:bodyPr>
          <a:lstStyle/>
          <a:p>
            <a:pPr>
              <a:spcAft>
                <a:spcPts val="0"/>
              </a:spcAft>
              <a:buNone/>
            </a:pPr>
            <a:r>
              <a:rPr sz="800" b="0"/>
              <a:t>Источник: Dream Job — архивная вакансия Updater, Premier Trucking Group.</a:t>
            </a:r>
          </a:p>
        </p:txBody>
      </p:sp>
      <p:pic>
        <p:nvPicPr>
          <p:cNvPr id="7" name="Picture 6" descr="image-2bc43b6fd4a3c929278efdd3e06a547c.jpg"/>
          <p:cNvPicPr>
            <a:picLocks noChangeAspect="1"/>
          </p:cNvPicPr>
          <p:nvPr/>
        </p:nvPicPr>
        <p:blipFill>
          <a:blip r:embed="rId2"/>
          <a:srcRect t="15778" b="15778"/>
          <a:stretch>
            <a:fillRect/>
          </a:stretch>
        </p:blipFill>
        <p:spPr>
          <a:xfrm>
            <a:off x="8229600" y="1874519"/>
            <a:ext cx="3429000" cy="35204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a:t>2. </a:t>
            </a:r>
            <a:r>
              <a:rPr dirty="0"/>
              <a:t>Amazon Relay </a:t>
            </a:r>
            <a:r>
              <a:rPr dirty="0" err="1"/>
              <a:t>соединяет</a:t>
            </a:r>
            <a:r>
              <a:rPr dirty="0"/>
              <a:t> carrier </a:t>
            </a:r>
            <a:r>
              <a:rPr dirty="0" err="1"/>
              <a:t>напрямую</a:t>
            </a:r>
            <a:r>
              <a:rPr dirty="0"/>
              <a:t> </a:t>
            </a:r>
            <a:r>
              <a:rPr dirty="0" err="1"/>
              <a:t>с</a:t>
            </a:r>
            <a:r>
              <a:rPr dirty="0"/>
              <a:t> </a:t>
            </a:r>
            <a:r>
              <a:rPr dirty="0" err="1"/>
              <a:t>грузами</a:t>
            </a:r>
            <a:r>
              <a:rPr dirty="0"/>
              <a:t> Amazon</a:t>
            </a:r>
          </a:p>
        </p:txBody>
      </p:sp>
      <p:sp>
        <p:nvSpPr>
          <p:cNvPr id="3" name="Content Placeholder 2"/>
          <p:cNvSpPr>
            <a:spLocks noGrp="1"/>
          </p:cNvSpPr>
          <p:nvPr>
            <p:ph sz="quarter" idx="15"/>
          </p:nvPr>
        </p:nvSpPr>
        <p:spPr>
          <a:xfrm>
            <a:off x="530352" y="1920240"/>
            <a:ext cx="5486400" cy="3383280"/>
          </a:xfrm>
        </p:spPr>
        <p:txBody>
          <a:bodyPr wrap="square" lIns="0" tIns="0" bIns="0" anchor="t"/>
          <a:lstStyle/>
          <a:p>
            <a:pPr algn="l">
              <a:spcAft>
                <a:spcPts val="1400"/>
              </a:spcAft>
              <a:buNone/>
            </a:pPr>
            <a:r>
              <a:rPr sz="1800" b="1"/>
              <a:t>ЧТО ЭТО</a:t>
            </a:r>
          </a:p>
          <a:p>
            <a:pPr algn="l">
              <a:spcAft>
                <a:spcPts val="1800"/>
              </a:spcAft>
              <a:buNone/>
            </a:pPr>
            <a:r>
              <a:rPr sz="2200" b="1"/>
              <a:t>Онлайн-платформа и мобильное приложение Amazon, где approved carriers находят, бронируют и сопровождают Amazon loads в одной системе.</a:t>
            </a:r>
          </a:p>
          <a:p>
            <a:pPr algn="l">
              <a:spcAft>
                <a:spcPts val="0"/>
              </a:spcAft>
              <a:buNone/>
            </a:pPr>
            <a:r>
              <a:rPr sz="1900" b="0"/>
              <a:t>Carrier получает доступ к freight напрямую — без обычного брокера между компанией и Amazon.</a:t>
            </a:r>
          </a:p>
        </p:txBody>
      </p:sp>
      <p:sp>
        <p:nvSpPr>
          <p:cNvPr id="4" name="Content Placeholder 3"/>
          <p:cNvSpPr>
            <a:spLocks noGrp="1"/>
          </p:cNvSpPr>
          <p:nvPr>
            <p:ph sz="quarter" idx="16"/>
          </p:nvPr>
        </p:nvSpPr>
        <p:spPr>
          <a:xfrm>
            <a:off x="6446520" y="1920240"/>
            <a:ext cx="4846320" cy="3383280"/>
          </a:xfrm>
        </p:spPr>
        <p:txBody>
          <a:bodyPr wrap="square" lIns="0" tIns="0" bIns="0" anchor="t"/>
          <a:lstStyle/>
          <a:p>
            <a:pPr algn="l">
              <a:spcAft>
                <a:spcPts val="1600"/>
              </a:spcAft>
              <a:buNone/>
            </a:pPr>
            <a:r>
              <a:rPr sz="1800" b="1"/>
              <a:t>КТО ЗА ЧТО ОТВЕЧАЕТ</a:t>
            </a:r>
          </a:p>
          <a:p>
            <a:pPr algn="ctr">
              <a:spcAft>
                <a:spcPts val="1800"/>
              </a:spcAft>
              <a:buNone/>
            </a:pPr>
            <a:r>
              <a:rPr sz="1800" b="1"/>
              <a:t>AMAZON → LOAD → CARRIER → DRIVER</a:t>
            </a:r>
          </a:p>
          <a:p>
            <a:pPr algn="l">
              <a:spcAft>
                <a:spcPts val="1200"/>
              </a:spcAft>
              <a:buNone/>
            </a:pPr>
            <a:r>
              <a:rPr sz="2200" b="1"/>
              <a:t>Updater работает на стороне carrier.</a:t>
            </a:r>
          </a:p>
          <a:p>
            <a:pPr algn="l">
              <a:spcAft>
                <a:spcPts val="0"/>
              </a:spcAft>
              <a:buNone/>
            </a:pPr>
            <a:r>
              <a:rPr sz="1800" b="0"/>
              <a:t>Он контролирует trip, движение driver, ETA, документы и задержки — и передаёт важные изменения нужным участникам.</a:t>
            </a:r>
          </a:p>
        </p:txBody>
      </p:sp>
      <p:sp>
        <p:nvSpPr>
          <p:cNvPr id="5" name="TextBox 4"/>
          <p:cNvSpPr txBox="1"/>
          <p:nvPr/>
        </p:nvSpPr>
        <p:spPr>
          <a:xfrm>
            <a:off x="530352" y="6510528"/>
            <a:ext cx="10972800" cy="182880"/>
          </a:xfrm>
          <a:prstGeom prst="rect">
            <a:avLst/>
          </a:prstGeom>
          <a:noFill/>
        </p:spPr>
        <p:txBody>
          <a:bodyPr wrap="square" lIns="0" tIns="0" rIns="0" bIns="0">
            <a:spAutoFit/>
          </a:bodyPr>
          <a:lstStyle/>
          <a:p>
            <a:pPr algn="l">
              <a:spcAft>
                <a:spcPts val="0"/>
              </a:spcAft>
              <a:buNone/>
            </a:pPr>
            <a:r>
              <a:rPr sz="800" b="0"/>
              <a:t>Источники: Amazon Relay — Home, Get Started, Trucking Opportunities (доступ 08.09.2026).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В Relay load проходит путь от booking до delivery</a:t>
            </a:r>
          </a:p>
        </p:txBody>
      </p:sp>
      <p:sp>
        <p:nvSpPr>
          <p:cNvPr id="3" name="Content Placeholder 2"/>
          <p:cNvSpPr>
            <a:spLocks noGrp="1"/>
          </p:cNvSpPr>
          <p:nvPr>
            <p:ph sz="quarter" idx="15"/>
          </p:nvPr>
        </p:nvSpPr>
        <p:spPr>
          <a:xfrm>
            <a:off x="530352" y="1901952"/>
            <a:ext cx="5166360" cy="3767328"/>
          </a:xfrm>
        </p:spPr>
        <p:txBody>
          <a:bodyPr wrap="square" lIns="0" tIns="0" bIns="0" anchor="t"/>
          <a:lstStyle/>
          <a:p>
            <a:pPr algn="l">
              <a:spcAft>
                <a:spcPts val="1300"/>
              </a:spcAft>
              <a:buNone/>
            </a:pPr>
            <a:r>
              <a:rPr sz="1800" b="1"/>
              <a:t>НАЙТИ И ПОДГОТОВИТЬ</a:t>
            </a:r>
          </a:p>
          <a:p>
            <a:pPr algn="l">
              <a:spcAft>
                <a:spcPts val="1000"/>
              </a:spcAft>
              <a:buNone/>
            </a:pPr>
            <a:r>
              <a:rPr sz="1800" b="1"/>
              <a:t>LOAD BOARD  —  искать доступные spot loads</a:t>
            </a:r>
          </a:p>
          <a:p>
            <a:pPr algn="l">
              <a:spcAft>
                <a:spcPts val="1000"/>
              </a:spcAft>
              <a:buNone/>
            </a:pPr>
            <a:r>
              <a:rPr sz="1800" b="1"/>
              <a:t>BOOKING  —  бронировать подходящий load</a:t>
            </a:r>
          </a:p>
          <a:p>
            <a:pPr algn="l">
              <a:spcAft>
                <a:spcPts val="1000"/>
              </a:spcAft>
              <a:buNone/>
            </a:pPr>
            <a:r>
              <a:rPr sz="1800" b="0"/>
              <a:t>TRIPS  —  видеть маршрут, время и детали поездки</a:t>
            </a:r>
          </a:p>
          <a:p>
            <a:pPr algn="l">
              <a:spcAft>
                <a:spcPts val="1000"/>
              </a:spcAft>
              <a:buNone/>
            </a:pPr>
            <a:r>
              <a:rPr sz="1800" b="0"/>
              <a:t>EQUIPMENT  —  проверять truck / trailer для trip</a:t>
            </a:r>
          </a:p>
        </p:txBody>
      </p:sp>
      <p:sp>
        <p:nvSpPr>
          <p:cNvPr id="4" name="Content Placeholder 3"/>
          <p:cNvSpPr>
            <a:spLocks noGrp="1"/>
          </p:cNvSpPr>
          <p:nvPr>
            <p:ph sz="quarter" idx="16"/>
          </p:nvPr>
        </p:nvSpPr>
        <p:spPr>
          <a:xfrm>
            <a:off x="6144768" y="1901952"/>
            <a:ext cx="5138928" cy="3767328"/>
          </a:xfrm>
        </p:spPr>
        <p:txBody>
          <a:bodyPr wrap="square" lIns="0" tIns="0" bIns="0" anchor="t"/>
          <a:lstStyle/>
          <a:p>
            <a:pPr algn="l">
              <a:spcAft>
                <a:spcPts val="1300"/>
              </a:spcAft>
              <a:buNone/>
            </a:pPr>
            <a:r>
              <a:rPr sz="1800" b="1"/>
              <a:t>ВЫПОЛНИТЬ И СОПРОВОЖДАТЬ</a:t>
            </a:r>
          </a:p>
          <a:p>
            <a:pPr algn="l">
              <a:spcAft>
                <a:spcPts val="800"/>
              </a:spcAft>
              <a:buNone/>
            </a:pPr>
            <a:r>
              <a:rPr sz="1700" b="1"/>
              <a:t>TRACKING  —  статус, location и real-time alerts</a:t>
            </a:r>
          </a:p>
          <a:p>
            <a:pPr algn="l">
              <a:spcAft>
                <a:spcPts val="800"/>
              </a:spcAft>
              <a:buNone/>
            </a:pPr>
            <a:r>
              <a:rPr sz="1700" b="0"/>
              <a:t>DOCUMENTS  —  BOL, POD и связанный paperwork</a:t>
            </a:r>
          </a:p>
          <a:p>
            <a:pPr algn="l">
              <a:spcAft>
                <a:spcPts val="800"/>
              </a:spcAft>
              <a:buNone/>
            </a:pPr>
            <a:r>
              <a:rPr sz="1700" b="1"/>
              <a:t>REPORT DELAY  —  сообщить о delay или disruption</a:t>
            </a:r>
          </a:p>
          <a:p>
            <a:pPr algn="l">
              <a:spcAft>
                <a:spcPts val="800"/>
              </a:spcAft>
              <a:buNone/>
            </a:pPr>
            <a:r>
              <a:rPr sz="1700" b="0"/>
              <a:t>NAVIGATION  —  truck-safe маршрут и ограничения</a:t>
            </a:r>
          </a:p>
          <a:p>
            <a:pPr algn="l">
              <a:spcAft>
                <a:spcPts val="800"/>
              </a:spcAft>
              <a:buNone/>
            </a:pPr>
            <a:r>
              <a:rPr sz="1700" b="0"/>
              <a:t>RELAY ASSISTANT  —  операционная помощь в пути</a:t>
            </a:r>
          </a:p>
        </p:txBody>
      </p:sp>
      <p:sp>
        <p:nvSpPr>
          <p:cNvPr id="5" name="TextBox 4"/>
          <p:cNvSpPr txBox="1"/>
          <p:nvPr/>
        </p:nvSpPr>
        <p:spPr>
          <a:xfrm>
            <a:off x="530352" y="6510528"/>
            <a:ext cx="10972800" cy="182880"/>
          </a:xfrm>
          <a:prstGeom prst="rect">
            <a:avLst/>
          </a:prstGeom>
          <a:noFill/>
        </p:spPr>
        <p:txBody>
          <a:bodyPr wrap="square" lIns="0" tIns="0" rIns="0" bIns="0">
            <a:spAutoFit/>
          </a:bodyPr>
          <a:lstStyle/>
          <a:p>
            <a:pPr algn="l">
              <a:spcAft>
                <a:spcPts val="0"/>
              </a:spcAft>
              <a:buNone/>
            </a:pPr>
            <a:r>
              <a:rPr sz="800" b="0"/>
              <a:t>Источники: Amazon Relay — Load Board, Relay App, Load Tracking (доступ 08.09.2026).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352" y="1024128"/>
            <a:ext cx="3493008" cy="4315968"/>
          </a:xfrm>
        </p:spPr>
        <p:txBody>
          <a:bodyPr wrap="square"/>
          <a:lstStyle/>
          <a:p>
            <a:pPr algn="l">
              <a:spcAft>
                <a:spcPts val="0"/>
              </a:spcAft>
              <a:buNone/>
            </a:pPr>
            <a:r>
              <a:rPr sz="3800" b="0"/>
              <a:t>СНАЧАЛА —</a:t>
            </a:r>
            <a:br/>
            <a:r>
              <a:rPr sz="3800" b="0"/>
              <a:t>8 РАБОЧИХ</a:t>
            </a:r>
            <a:br/>
            <a:r>
              <a:rPr sz="3800" b="0"/>
              <a:t>ЗОН</a:t>
            </a:r>
          </a:p>
        </p:txBody>
      </p:sp>
      <p:sp>
        <p:nvSpPr>
          <p:cNvPr id="3" name="Content Placeholder 2"/>
          <p:cNvSpPr>
            <a:spLocks noGrp="1"/>
          </p:cNvSpPr>
          <p:nvPr>
            <p:ph sz="quarter" idx="13"/>
          </p:nvPr>
        </p:nvSpPr>
        <p:spPr>
          <a:xfrm>
            <a:off x="4709160" y="1078992"/>
            <a:ext cx="6583680" cy="4407408"/>
          </a:xfrm>
        </p:spPr>
        <p:txBody>
          <a:bodyPr wrap="square" lIns="0" tIns="0" bIns="0" anchor="t"/>
          <a:lstStyle/>
          <a:p>
            <a:pPr algn="l">
              <a:spcAft>
                <a:spcPts val="1200"/>
              </a:spcAft>
              <a:buNone/>
            </a:pPr>
            <a:r>
              <a:rPr sz="1800" b="1" dirty="0"/>
              <a:t>РАБОЧИЙ МИНИМУМ UPDATER</a:t>
            </a:r>
          </a:p>
          <a:p>
            <a:pPr algn="l">
              <a:spcAft>
                <a:spcPts val="600"/>
              </a:spcAft>
              <a:buNone/>
            </a:pPr>
            <a:r>
              <a:rPr sz="1700" b="0" dirty="0"/>
              <a:t>—  Trips — </a:t>
            </a:r>
            <a:r>
              <a:rPr sz="1700" b="0" dirty="0" err="1"/>
              <a:t>открыть</a:t>
            </a:r>
            <a:r>
              <a:rPr sz="1700" b="0" dirty="0"/>
              <a:t> </a:t>
            </a:r>
            <a:r>
              <a:rPr sz="1700" b="0" dirty="0" err="1"/>
              <a:t>и</a:t>
            </a:r>
            <a:r>
              <a:rPr sz="1700" b="0" dirty="0"/>
              <a:t> </a:t>
            </a:r>
            <a:r>
              <a:rPr sz="1700" b="0" dirty="0" err="1"/>
              <a:t>понять</a:t>
            </a:r>
            <a:r>
              <a:rPr sz="1700" b="0" dirty="0"/>
              <a:t> </a:t>
            </a:r>
            <a:r>
              <a:rPr sz="1700" b="0" dirty="0" err="1"/>
              <a:t>текущий</a:t>
            </a:r>
            <a:r>
              <a:rPr sz="1700" b="0" dirty="0"/>
              <a:t> load</a:t>
            </a:r>
          </a:p>
          <a:p>
            <a:pPr algn="l">
              <a:spcAft>
                <a:spcPts val="600"/>
              </a:spcAft>
              <a:buNone/>
            </a:pPr>
            <a:r>
              <a:rPr sz="1700" b="0" dirty="0"/>
              <a:t>—  Equipment — </a:t>
            </a:r>
            <a:r>
              <a:rPr sz="1700" b="0" dirty="0" err="1"/>
              <a:t>проверить</a:t>
            </a:r>
            <a:r>
              <a:rPr sz="1700" b="0" dirty="0"/>
              <a:t> trailer / truck</a:t>
            </a:r>
          </a:p>
          <a:p>
            <a:pPr algn="l">
              <a:spcAft>
                <a:spcPts val="600"/>
              </a:spcAft>
              <a:buNone/>
            </a:pPr>
            <a:r>
              <a:rPr sz="1700" b="0" dirty="0"/>
              <a:t>—  Pickup / Delivery — </a:t>
            </a:r>
            <a:r>
              <a:rPr sz="1700" b="0" dirty="0" err="1"/>
              <a:t>контролировать</a:t>
            </a:r>
            <a:r>
              <a:rPr sz="1700" b="0" dirty="0"/>
              <a:t> milestones</a:t>
            </a:r>
          </a:p>
          <a:p>
            <a:pPr algn="l">
              <a:spcAft>
                <a:spcPts val="600"/>
              </a:spcAft>
              <a:buNone/>
            </a:pPr>
            <a:r>
              <a:rPr sz="1700" b="0" dirty="0"/>
              <a:t>—  Tracking / Location / ETA — </a:t>
            </a:r>
            <a:r>
              <a:rPr sz="1700" b="0" dirty="0" err="1"/>
              <a:t>видеть</a:t>
            </a:r>
            <a:r>
              <a:rPr sz="1700" b="0" dirty="0"/>
              <a:t> </a:t>
            </a:r>
            <a:r>
              <a:rPr sz="1700" b="0" dirty="0" err="1"/>
              <a:t>движение</a:t>
            </a:r>
            <a:r>
              <a:rPr sz="1700" b="0" dirty="0"/>
              <a:t> </a:t>
            </a:r>
            <a:r>
              <a:rPr sz="1700" b="0" dirty="0" err="1"/>
              <a:t>и</a:t>
            </a:r>
            <a:r>
              <a:rPr sz="1700" b="0" dirty="0"/>
              <a:t> </a:t>
            </a:r>
            <a:r>
              <a:rPr sz="1700" b="0" dirty="0" err="1"/>
              <a:t>риск</a:t>
            </a:r>
            <a:endParaRPr sz="1700" b="0" dirty="0"/>
          </a:p>
          <a:p>
            <a:pPr algn="l">
              <a:spcAft>
                <a:spcPts val="600"/>
              </a:spcAft>
              <a:buNone/>
            </a:pPr>
            <a:r>
              <a:rPr sz="1700" b="0" dirty="0"/>
              <a:t>—  BOL — </a:t>
            </a:r>
            <a:r>
              <a:rPr sz="1700" b="0" dirty="0" err="1"/>
              <a:t>проверить</a:t>
            </a:r>
            <a:r>
              <a:rPr sz="1700" b="0" dirty="0"/>
              <a:t> paperwork</a:t>
            </a:r>
          </a:p>
          <a:p>
            <a:pPr algn="l">
              <a:spcAft>
                <a:spcPts val="600"/>
              </a:spcAft>
              <a:buNone/>
            </a:pPr>
            <a:r>
              <a:rPr sz="1700" b="0" dirty="0"/>
              <a:t>—  Report Delay — </a:t>
            </a:r>
            <a:r>
              <a:rPr sz="1700" b="0" dirty="0" err="1"/>
              <a:t>корректно</a:t>
            </a:r>
            <a:r>
              <a:rPr sz="1700" b="0" dirty="0"/>
              <a:t> </a:t>
            </a:r>
            <a:r>
              <a:rPr sz="1700" b="0" dirty="0" err="1"/>
              <a:t>сообщить</a:t>
            </a:r>
            <a:r>
              <a:rPr sz="1700" b="0" dirty="0"/>
              <a:t> </a:t>
            </a:r>
            <a:r>
              <a:rPr sz="1700" b="0" dirty="0" err="1"/>
              <a:t>о</a:t>
            </a:r>
            <a:r>
              <a:rPr sz="1700" b="0" dirty="0"/>
              <a:t> </a:t>
            </a:r>
            <a:r>
              <a:rPr sz="1700" b="0" dirty="0" err="1"/>
              <a:t>задержке</a:t>
            </a:r>
            <a:endParaRPr sz="1700" b="0" dirty="0"/>
          </a:p>
          <a:p>
            <a:pPr algn="l">
              <a:spcAft>
                <a:spcPts val="600"/>
              </a:spcAft>
              <a:buNone/>
            </a:pPr>
            <a:r>
              <a:rPr sz="1700" b="0" dirty="0"/>
              <a:t>—  Relay Assistant — </a:t>
            </a:r>
            <a:r>
              <a:rPr sz="1700" b="0" dirty="0" err="1"/>
              <a:t>получить</a:t>
            </a:r>
            <a:r>
              <a:rPr sz="1700" b="0" dirty="0"/>
              <a:t> </a:t>
            </a:r>
            <a:r>
              <a:rPr sz="1700" b="0" dirty="0" err="1"/>
              <a:t>помощь</a:t>
            </a:r>
            <a:r>
              <a:rPr sz="1700" b="0" dirty="0"/>
              <a:t> </a:t>
            </a:r>
            <a:r>
              <a:rPr sz="1700" b="0" dirty="0" err="1"/>
              <a:t>системы</a:t>
            </a:r>
            <a:endParaRPr sz="1700" b="0" dirty="0"/>
          </a:p>
          <a:p>
            <a:pPr algn="l">
              <a:spcAft>
                <a:spcPts val="600"/>
              </a:spcAft>
              <a:buNone/>
            </a:pPr>
            <a:r>
              <a:rPr sz="1700" b="0" dirty="0"/>
              <a:t>—  ROC — </a:t>
            </a:r>
            <a:r>
              <a:rPr sz="1700" b="0" dirty="0" err="1"/>
              <a:t>обратиться</a:t>
            </a:r>
            <a:r>
              <a:rPr sz="1700" b="0" dirty="0"/>
              <a:t> </a:t>
            </a:r>
            <a:r>
              <a:rPr sz="1700" b="0" dirty="0" err="1"/>
              <a:t>за</a:t>
            </a:r>
            <a:r>
              <a:rPr sz="1700" b="0" dirty="0"/>
              <a:t> </a:t>
            </a:r>
            <a:r>
              <a:rPr sz="1700" b="0" dirty="0" err="1"/>
              <a:t>оперативной</a:t>
            </a:r>
            <a:r>
              <a:rPr sz="1700" b="0" dirty="0"/>
              <a:t> </a:t>
            </a:r>
            <a:r>
              <a:rPr sz="1700" b="0" dirty="0" err="1"/>
              <a:t>поддержкой</a:t>
            </a:r>
            <a:endParaRPr sz="1700" b="0" dirty="0"/>
          </a:p>
        </p:txBody>
      </p:sp>
      <p:sp>
        <p:nvSpPr>
          <p:cNvPr id="4" name="TextBox 3"/>
          <p:cNvSpPr txBox="1"/>
          <p:nvPr/>
        </p:nvSpPr>
        <p:spPr>
          <a:xfrm>
            <a:off x="530352" y="5669280"/>
            <a:ext cx="10744200" cy="530352"/>
          </a:xfrm>
          <a:prstGeom prst="rect">
            <a:avLst/>
          </a:prstGeom>
          <a:noFill/>
        </p:spPr>
        <p:txBody>
          <a:bodyPr wrap="square" lIns="0" tIns="0" rIns="0" bIns="0">
            <a:spAutoFit/>
          </a:bodyPr>
          <a:lstStyle/>
          <a:p>
            <a:pPr algn="ctr">
              <a:spcAft>
                <a:spcPts val="0"/>
              </a:spcAft>
              <a:buNone/>
            </a:pPr>
            <a:r>
              <a:rPr sz="1800" b="1"/>
              <a:t>ПОЗЖЕ:  LOAD BOARD  →  BOOKING  →  POST A TRUCK</a:t>
            </a:r>
          </a:p>
        </p:txBody>
      </p:sp>
      <p:sp>
        <p:nvSpPr>
          <p:cNvPr id="5" name="TextBox 4"/>
          <p:cNvSpPr txBox="1"/>
          <p:nvPr/>
        </p:nvSpPr>
        <p:spPr>
          <a:xfrm>
            <a:off x="530352" y="6510528"/>
            <a:ext cx="10972800" cy="182880"/>
          </a:xfrm>
          <a:prstGeom prst="rect">
            <a:avLst/>
          </a:prstGeom>
          <a:noFill/>
        </p:spPr>
        <p:txBody>
          <a:bodyPr wrap="square" lIns="0" tIns="0" rIns="0" bIns="0">
            <a:spAutoFit/>
          </a:bodyPr>
          <a:lstStyle/>
          <a:p>
            <a:pPr algn="l">
              <a:spcAft>
                <a:spcPts val="0"/>
              </a:spcAft>
              <a:buNone/>
            </a:pPr>
            <a:r>
              <a:rPr sz="800" b="0"/>
              <a:t>Источники: Amazon Relay — Relay App, Load Tracking; учебная приоритизация — материалы курса.</a:t>
            </a:r>
          </a:p>
        </p:txBody>
      </p:sp>
    </p:spTree>
    <p:extLst>
      <p:ext uri="{BB962C8B-B14F-4D97-AF65-F5344CB8AC3E}">
        <p14:creationId xmlns:p14="http://schemas.microsoft.com/office/powerpoint/2010/main" val="2510874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a:extLst>
              <a:ext uri="{FF2B5EF4-FFF2-40B4-BE49-F238E27FC236}">
                <a16:creationId xmlns:a16="http://schemas.microsoft.com/office/drawing/2014/main" id="{856A01E8-41DD-79E0-20E2-0B8159611674}"/>
              </a:ext>
            </a:extLst>
          </p:cNvPr>
          <p:cNvPicPr>
            <a:picLocks noGrp="1" noChangeAspect="1"/>
          </p:cNvPicPr>
          <p:nvPr>
            <p:ph sz="quarter" idx="13"/>
          </p:nvPr>
        </p:nvPicPr>
        <p:blipFill>
          <a:blip r:embed="rId3"/>
          <a:stretch>
            <a:fillRect/>
          </a:stretch>
        </p:blipFill>
        <p:spPr>
          <a:xfrm>
            <a:off x="774915" y="759417"/>
            <a:ext cx="10597935" cy="5858359"/>
          </a:xfrm>
          <a:prstGeom prst="rect">
            <a:avLst/>
          </a:prstGeom>
        </p:spPr>
      </p:pic>
    </p:spTree>
    <p:extLst>
      <p:ext uri="{BB962C8B-B14F-4D97-AF65-F5344CB8AC3E}">
        <p14:creationId xmlns:p14="http://schemas.microsoft.com/office/powerpoint/2010/main" val="1512994059"/>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24D06C-4E32-A634-F8D8-71D2A86AE315}"/>
              </a:ext>
            </a:extLst>
          </p:cNvPr>
          <p:cNvSpPr>
            <a:spLocks noGrp="1"/>
          </p:cNvSpPr>
          <p:nvPr>
            <p:ph type="title"/>
          </p:nvPr>
        </p:nvSpPr>
        <p:spPr>
          <a:xfrm>
            <a:off x="533399" y="1016955"/>
            <a:ext cx="3727316" cy="5014194"/>
          </a:xfrm>
        </p:spPr>
        <p:txBody>
          <a:bodyPr>
            <a:noAutofit/>
          </a:bodyPr>
          <a:lstStyle/>
          <a:p>
            <a:r>
              <a:rPr lang="ru-KG" sz="1400" cap="none" dirty="0">
                <a:latin typeface="Times New Roman" panose="02020603050405020304" pitchFamily="18" charset="0"/>
                <a:cs typeface="Times New Roman" panose="02020603050405020304" pitchFamily="18" charset="0"/>
              </a:rPr>
              <a:t>Для того чтобы связаться с </a:t>
            </a:r>
            <a:r>
              <a:rPr lang="en-US" sz="1400" cap="none" dirty="0">
                <a:latin typeface="Times New Roman" panose="02020603050405020304" pitchFamily="18" charset="0"/>
                <a:cs typeface="Times New Roman" panose="02020603050405020304" pitchFamily="18" charset="0"/>
              </a:rPr>
              <a:t>ROC </a:t>
            </a:r>
            <a:r>
              <a:rPr lang="ru-RU" sz="1400" cap="none" dirty="0">
                <a:latin typeface="Times New Roman" panose="02020603050405020304" pitchFamily="18" charset="0"/>
                <a:cs typeface="Times New Roman" panose="02020603050405020304" pitchFamily="18" charset="0"/>
              </a:rPr>
              <a:t>нужно нажать кнопку </a:t>
            </a:r>
            <a:br>
              <a:rPr lang="ru-RU" sz="1400" cap="none" dirty="0">
                <a:latin typeface="Times New Roman" panose="02020603050405020304" pitchFamily="18" charset="0"/>
                <a:cs typeface="Times New Roman" panose="02020603050405020304" pitchFamily="18" charset="0"/>
              </a:rPr>
            </a:br>
            <a:br>
              <a:rPr lang="ru-RU" sz="1400" cap="none" dirty="0">
                <a:latin typeface="Times New Roman" panose="02020603050405020304" pitchFamily="18" charset="0"/>
                <a:cs typeface="Times New Roman" panose="02020603050405020304" pitchFamily="18" charset="0"/>
              </a:rPr>
            </a:br>
            <a:br>
              <a:rPr lang="ru-RU" sz="1400" cap="none" dirty="0">
                <a:latin typeface="Times New Roman" panose="02020603050405020304" pitchFamily="18" charset="0"/>
                <a:cs typeface="Times New Roman" panose="02020603050405020304" pitchFamily="18" charset="0"/>
              </a:rPr>
            </a:br>
            <a:r>
              <a:rPr lang="ru-RU" sz="1400" cap="none" dirty="0">
                <a:latin typeface="Times New Roman" panose="02020603050405020304" pitchFamily="18" charset="0"/>
                <a:cs typeface="Times New Roman" panose="02020603050405020304" pitchFamily="18" charset="0"/>
              </a:rPr>
              <a:t>далее</a:t>
            </a:r>
            <a:r>
              <a:rPr lang="en-US" sz="1400" cap="none" dirty="0">
                <a:latin typeface="Times New Roman" panose="02020603050405020304" pitchFamily="18" charset="0"/>
                <a:cs typeface="Times New Roman" panose="02020603050405020304" pitchFamily="18" charset="0"/>
              </a:rPr>
              <a:t>,</a:t>
            </a:r>
            <a:r>
              <a:rPr lang="ru-RU" sz="1400" cap="none" dirty="0">
                <a:latin typeface="Times New Roman" panose="02020603050405020304" pitchFamily="18" charset="0"/>
                <a:cs typeface="Times New Roman" panose="02020603050405020304" pitchFamily="18" charset="0"/>
              </a:rPr>
              <a:t> указываем</a:t>
            </a:r>
            <a:r>
              <a:rPr lang="en-US" sz="1400" cap="none" dirty="0">
                <a:latin typeface="Times New Roman" panose="02020603050405020304" pitchFamily="18" charset="0"/>
                <a:cs typeface="Times New Roman" panose="02020603050405020304" pitchFamily="18" charset="0"/>
              </a:rPr>
              <a:t> </a:t>
            </a:r>
            <a:r>
              <a:rPr lang="ru-RU" sz="1400" cap="none" dirty="0">
                <a:latin typeface="Times New Roman" panose="02020603050405020304" pitchFamily="18" charset="0"/>
                <a:cs typeface="Times New Roman" panose="02020603050405020304" pitchFamily="18" charset="0"/>
              </a:rPr>
              <a:t>причину</a:t>
            </a:r>
            <a:r>
              <a:rPr lang="en-US" sz="1400" cap="none" dirty="0">
                <a:latin typeface="Times New Roman" panose="02020603050405020304" pitchFamily="18" charset="0"/>
                <a:cs typeface="Times New Roman" panose="02020603050405020304" pitchFamily="18" charset="0"/>
              </a:rPr>
              <a:t>, </a:t>
            </a:r>
            <a:r>
              <a:rPr lang="ru-RU" sz="1400" cap="none" dirty="0">
                <a:latin typeface="Times New Roman" panose="02020603050405020304" pitchFamily="18" charset="0"/>
                <a:cs typeface="Times New Roman" panose="02020603050405020304" pitchFamily="18" charset="0"/>
              </a:rPr>
              <a:t>это может </a:t>
            </a:r>
            <a:r>
              <a:rPr lang="en-US" sz="1400" cap="none" dirty="0">
                <a:latin typeface="Times New Roman" panose="02020603050405020304" pitchFamily="18" charset="0"/>
                <a:cs typeface="Times New Roman" panose="02020603050405020304" pitchFamily="18" charset="0"/>
              </a:rPr>
              <a:t>tire issue, mechanical trailer, no empty trailer</a:t>
            </a:r>
            <a:br>
              <a:rPr lang="en-US" sz="1400" cap="none" dirty="0">
                <a:latin typeface="Times New Roman" panose="02020603050405020304" pitchFamily="18" charset="0"/>
                <a:cs typeface="Times New Roman" panose="02020603050405020304" pitchFamily="18" charset="0"/>
              </a:rPr>
            </a:br>
            <a:br>
              <a:rPr lang="en-US" sz="1400" cap="none" dirty="0">
                <a:latin typeface="Times New Roman" panose="02020603050405020304" pitchFamily="18" charset="0"/>
                <a:cs typeface="Times New Roman" panose="02020603050405020304" pitchFamily="18" charset="0"/>
              </a:rPr>
            </a:br>
            <a:r>
              <a:rPr lang="ru-RU" sz="1400" cap="none" dirty="0">
                <a:latin typeface="Times New Roman" panose="02020603050405020304" pitchFamily="18" charset="0"/>
                <a:cs typeface="Times New Roman" panose="02020603050405020304" pitchFamily="18" charset="0"/>
              </a:rPr>
              <a:t>на вопрос : </a:t>
            </a:r>
            <a:br>
              <a:rPr lang="en-US" sz="1400" cap="none" dirty="0">
                <a:latin typeface="Times New Roman" panose="02020603050405020304" pitchFamily="18" charset="0"/>
                <a:cs typeface="Times New Roman" panose="02020603050405020304" pitchFamily="18" charset="0"/>
              </a:rPr>
            </a:br>
            <a:br>
              <a:rPr lang="en-US" sz="1400" cap="none" dirty="0">
                <a:latin typeface="Times New Roman" panose="02020603050405020304" pitchFamily="18" charset="0"/>
                <a:cs typeface="Times New Roman" panose="02020603050405020304" pitchFamily="18" charset="0"/>
              </a:rPr>
            </a:br>
            <a:r>
              <a:rPr lang="ru-RU" sz="1400" cap="none" dirty="0">
                <a:latin typeface="Times New Roman" panose="02020603050405020304" pitchFamily="18" charset="0"/>
                <a:cs typeface="Times New Roman" panose="02020603050405020304" pitchFamily="18" charset="0"/>
              </a:rPr>
              <a:t>                                                                </a:t>
            </a:r>
            <a:br>
              <a:rPr lang="ru-RU" sz="1400" cap="none" dirty="0">
                <a:latin typeface="Times New Roman" panose="02020603050405020304" pitchFamily="18" charset="0"/>
                <a:cs typeface="Times New Roman" panose="02020603050405020304" pitchFamily="18" charset="0"/>
              </a:rPr>
            </a:br>
            <a:r>
              <a:rPr lang="ru-RU" sz="1400" cap="none" dirty="0">
                <a:latin typeface="Times New Roman" panose="02020603050405020304" pitchFamily="18" charset="0"/>
                <a:cs typeface="Times New Roman" panose="02020603050405020304" pitchFamily="18" charset="0"/>
              </a:rPr>
              <a:t>отвечаем </a:t>
            </a:r>
            <a:r>
              <a:rPr lang="en-US" sz="1400" cap="none" dirty="0">
                <a:latin typeface="Times New Roman" panose="02020603050405020304" pitchFamily="18" charset="0"/>
                <a:cs typeface="Times New Roman" panose="02020603050405020304" pitchFamily="18" charset="0"/>
              </a:rPr>
              <a:t>NO</a:t>
            </a:r>
            <a:br>
              <a:rPr lang="en-US" sz="1400" cap="none" dirty="0">
                <a:latin typeface="Times New Roman" panose="02020603050405020304" pitchFamily="18" charset="0"/>
                <a:cs typeface="Times New Roman" panose="02020603050405020304" pitchFamily="18" charset="0"/>
              </a:rPr>
            </a:br>
            <a:br>
              <a:rPr lang="en-US" sz="1400" cap="none" dirty="0">
                <a:latin typeface="Times New Roman" panose="02020603050405020304" pitchFamily="18" charset="0"/>
                <a:cs typeface="Times New Roman" panose="02020603050405020304" pitchFamily="18" charset="0"/>
              </a:rPr>
            </a:br>
            <a:r>
              <a:rPr lang="ru-RU" sz="1400" cap="none" dirty="0">
                <a:latin typeface="Times New Roman" panose="02020603050405020304" pitchFamily="18" charset="0"/>
                <a:cs typeface="Times New Roman" panose="02020603050405020304" pitchFamily="18" charset="0"/>
              </a:rPr>
              <a:t>после появляется окошка для ваших данных</a:t>
            </a:r>
            <a:r>
              <a:rPr lang="en-US" sz="1400" cap="none" dirty="0">
                <a:latin typeface="Times New Roman" panose="02020603050405020304" pitchFamily="18" charset="0"/>
                <a:cs typeface="Times New Roman" panose="02020603050405020304" pitchFamily="18" charset="0"/>
              </a:rPr>
              <a:t>,</a:t>
            </a:r>
            <a:r>
              <a:rPr lang="ru-RU" sz="1400" cap="none" dirty="0">
                <a:latin typeface="Times New Roman" panose="02020603050405020304" pitchFamily="18" charset="0"/>
                <a:cs typeface="Times New Roman" panose="02020603050405020304" pitchFamily="18" charset="0"/>
              </a:rPr>
              <a:t> куда вы можете загрузить фотографии поломки и ваш номер телефона по которому с вами свяжется </a:t>
            </a:r>
            <a:r>
              <a:rPr lang="en-US" sz="1400" cap="none" dirty="0">
                <a:latin typeface="Times New Roman" panose="02020603050405020304" pitchFamily="18" charset="0"/>
                <a:cs typeface="Times New Roman" panose="02020603050405020304" pitchFamily="18" charset="0"/>
              </a:rPr>
              <a:t>ROC</a:t>
            </a:r>
            <a:br>
              <a:rPr lang="en-US" sz="1400" cap="none" dirty="0">
                <a:latin typeface="Times New Roman" panose="02020603050405020304" pitchFamily="18" charset="0"/>
                <a:cs typeface="Times New Roman" panose="02020603050405020304" pitchFamily="18" charset="0"/>
              </a:rPr>
            </a:br>
            <a:br>
              <a:rPr lang="en-US" sz="1400" cap="none" dirty="0">
                <a:latin typeface="Times New Roman" panose="02020603050405020304" pitchFamily="18" charset="0"/>
                <a:cs typeface="Times New Roman" panose="02020603050405020304" pitchFamily="18" charset="0"/>
              </a:rPr>
            </a:br>
            <a:r>
              <a:rPr lang="en-US" sz="1400" cap="none" dirty="0">
                <a:latin typeface="Times New Roman" panose="02020603050405020304" pitchFamily="18" charset="0"/>
                <a:cs typeface="Times New Roman" panose="02020603050405020304" pitchFamily="18" charset="0"/>
              </a:rPr>
              <a:t>ROC</a:t>
            </a:r>
            <a:r>
              <a:rPr lang="ru-RU" sz="1400" cap="none" dirty="0">
                <a:latin typeface="Times New Roman" panose="02020603050405020304" pitchFamily="18" charset="0"/>
                <a:cs typeface="Times New Roman" panose="02020603050405020304" pitchFamily="18" charset="0"/>
              </a:rPr>
              <a:t> продиктует номер груза по которому вы запросили звонок, далее вам нужно будет ему объяснить ситуацию и попросить к примеру вызвать </a:t>
            </a:r>
            <a:r>
              <a:rPr lang="en-US" sz="1400" cap="none" dirty="0">
                <a:latin typeface="Times New Roman" panose="02020603050405020304" pitchFamily="18" charset="0"/>
                <a:cs typeface="Times New Roman" panose="02020603050405020304" pitchFamily="18" charset="0"/>
              </a:rPr>
              <a:t>road service</a:t>
            </a:r>
            <a:r>
              <a:rPr lang="ru-RU" sz="1400" cap="none" dirty="0">
                <a:latin typeface="Times New Roman" panose="02020603050405020304" pitchFamily="18" charset="0"/>
                <a:cs typeface="Times New Roman" panose="02020603050405020304" pitchFamily="18" charset="0"/>
              </a:rPr>
              <a:t>  </a:t>
            </a:r>
            <a:br>
              <a:rPr lang="en-US" sz="1400" cap="none" dirty="0">
                <a:latin typeface="Times New Roman" panose="02020603050405020304" pitchFamily="18" charset="0"/>
                <a:cs typeface="Times New Roman" panose="02020603050405020304" pitchFamily="18" charset="0"/>
              </a:rPr>
            </a:br>
            <a:r>
              <a:rPr lang="ru-RU" sz="1400" cap="none" dirty="0">
                <a:latin typeface="Times New Roman" panose="02020603050405020304" pitchFamily="18" charset="0"/>
                <a:cs typeface="Times New Roman" panose="02020603050405020304" pitchFamily="18" charset="0"/>
              </a:rPr>
              <a:t>Если у вас спустило колесо. Вы может загрузить фото, где четко видны данные колеса                                                        </a:t>
            </a:r>
            <a:endParaRPr lang="ru-KG" sz="1400" cap="none" dirty="0">
              <a:latin typeface="Times New Roman" panose="02020603050405020304" pitchFamily="18" charset="0"/>
              <a:cs typeface="Times New Roman" panose="02020603050405020304" pitchFamily="18" charset="0"/>
            </a:endParaRPr>
          </a:p>
        </p:txBody>
      </p:sp>
      <p:pic>
        <p:nvPicPr>
          <p:cNvPr id="5" name="Объект 4">
            <a:extLst>
              <a:ext uri="{FF2B5EF4-FFF2-40B4-BE49-F238E27FC236}">
                <a16:creationId xmlns:a16="http://schemas.microsoft.com/office/drawing/2014/main" id="{E1190512-9E6D-2524-E8D1-7A0EBD9B19D7}"/>
              </a:ext>
            </a:extLst>
          </p:cNvPr>
          <p:cNvPicPr>
            <a:picLocks noGrp="1" noChangeAspect="1"/>
          </p:cNvPicPr>
          <p:nvPr>
            <p:ph sz="quarter" idx="13"/>
          </p:nvPr>
        </p:nvPicPr>
        <p:blipFill>
          <a:blip r:embed="rId2"/>
          <a:stretch>
            <a:fillRect/>
          </a:stretch>
        </p:blipFill>
        <p:spPr>
          <a:xfrm>
            <a:off x="4490551" y="945400"/>
            <a:ext cx="7412476" cy="3344300"/>
          </a:xfrm>
          <a:prstGeom prst="rect">
            <a:avLst/>
          </a:prstGeom>
        </p:spPr>
      </p:pic>
      <p:pic>
        <p:nvPicPr>
          <p:cNvPr id="7" name="Рисунок 6">
            <a:extLst>
              <a:ext uri="{FF2B5EF4-FFF2-40B4-BE49-F238E27FC236}">
                <a16:creationId xmlns:a16="http://schemas.microsoft.com/office/drawing/2014/main" id="{D79BFCA1-8C83-42FB-81BC-DCA0E627AD00}"/>
              </a:ext>
            </a:extLst>
          </p:cNvPr>
          <p:cNvPicPr>
            <a:picLocks noChangeAspect="1"/>
          </p:cNvPicPr>
          <p:nvPr/>
        </p:nvPicPr>
        <p:blipFill>
          <a:blip r:embed="rId3"/>
          <a:stretch>
            <a:fillRect/>
          </a:stretch>
        </p:blipFill>
        <p:spPr>
          <a:xfrm rot="10800000" flipH="1" flipV="1">
            <a:off x="2121367" y="1379048"/>
            <a:ext cx="1046534" cy="338353"/>
          </a:xfrm>
          <a:prstGeom prst="rect">
            <a:avLst/>
          </a:prstGeom>
        </p:spPr>
      </p:pic>
      <p:pic>
        <p:nvPicPr>
          <p:cNvPr id="12" name="Рисунок 11">
            <a:extLst>
              <a:ext uri="{FF2B5EF4-FFF2-40B4-BE49-F238E27FC236}">
                <a16:creationId xmlns:a16="http://schemas.microsoft.com/office/drawing/2014/main" id="{E27494D1-1397-562B-191A-F8481FCB9543}"/>
              </a:ext>
            </a:extLst>
          </p:cNvPr>
          <p:cNvPicPr>
            <a:picLocks noChangeAspect="1"/>
          </p:cNvPicPr>
          <p:nvPr/>
        </p:nvPicPr>
        <p:blipFill>
          <a:blip r:embed="rId4"/>
          <a:stretch>
            <a:fillRect/>
          </a:stretch>
        </p:blipFill>
        <p:spPr>
          <a:xfrm>
            <a:off x="2121367" y="2299177"/>
            <a:ext cx="1689147" cy="745355"/>
          </a:xfrm>
          <a:prstGeom prst="rect">
            <a:avLst/>
          </a:prstGeom>
        </p:spPr>
      </p:pic>
      <p:pic>
        <p:nvPicPr>
          <p:cNvPr id="4" name="Рисунок 3">
            <a:extLst>
              <a:ext uri="{FF2B5EF4-FFF2-40B4-BE49-F238E27FC236}">
                <a16:creationId xmlns:a16="http://schemas.microsoft.com/office/drawing/2014/main" id="{E62FC571-7E72-B26E-49D4-1D79AB9EB492}"/>
              </a:ext>
            </a:extLst>
          </p:cNvPr>
          <p:cNvPicPr>
            <a:picLocks noChangeAspect="1"/>
          </p:cNvPicPr>
          <p:nvPr/>
        </p:nvPicPr>
        <p:blipFill>
          <a:blip r:embed="rId5"/>
          <a:stretch>
            <a:fillRect/>
          </a:stretch>
        </p:blipFill>
        <p:spPr>
          <a:xfrm>
            <a:off x="1509917" y="5140599"/>
            <a:ext cx="2750798" cy="1064297"/>
          </a:xfrm>
          <a:prstGeom prst="rect">
            <a:avLst/>
          </a:prstGeom>
        </p:spPr>
      </p:pic>
      <p:pic>
        <p:nvPicPr>
          <p:cNvPr id="8" name="Рисунок 7">
            <a:extLst>
              <a:ext uri="{FF2B5EF4-FFF2-40B4-BE49-F238E27FC236}">
                <a16:creationId xmlns:a16="http://schemas.microsoft.com/office/drawing/2014/main" id="{F2E4D1C9-73C6-BF96-5DC1-7EF272B5DDB6}"/>
              </a:ext>
            </a:extLst>
          </p:cNvPr>
          <p:cNvPicPr>
            <a:picLocks noChangeAspect="1"/>
          </p:cNvPicPr>
          <p:nvPr/>
        </p:nvPicPr>
        <p:blipFill>
          <a:blip r:embed="rId6"/>
          <a:srcRect l="2136" t="19922" r="3349" b="25304"/>
          <a:stretch>
            <a:fillRect/>
          </a:stretch>
        </p:blipFill>
        <p:spPr>
          <a:xfrm>
            <a:off x="9448907" y="4439736"/>
            <a:ext cx="2209694" cy="2134788"/>
          </a:xfrm>
          <a:prstGeom prst="rect">
            <a:avLst/>
          </a:prstGeom>
        </p:spPr>
      </p:pic>
      <p:sp>
        <p:nvSpPr>
          <p:cNvPr id="3" name="TextBox 2">
            <a:extLst>
              <a:ext uri="{FF2B5EF4-FFF2-40B4-BE49-F238E27FC236}">
                <a16:creationId xmlns:a16="http://schemas.microsoft.com/office/drawing/2014/main" id="{BC88D139-3EE9-8927-9FAD-9EE17826A8FC}"/>
              </a:ext>
            </a:extLst>
          </p:cNvPr>
          <p:cNvSpPr txBox="1"/>
          <p:nvPr/>
        </p:nvSpPr>
        <p:spPr>
          <a:xfrm>
            <a:off x="4927600" y="4927600"/>
            <a:ext cx="3894667" cy="954107"/>
          </a:xfrm>
          <a:prstGeom prst="rect">
            <a:avLst/>
          </a:prstGeom>
          <a:noFill/>
        </p:spPr>
        <p:txBody>
          <a:bodyPr wrap="square" rtlCol="0">
            <a:spAutoFit/>
          </a:bodyPr>
          <a:lstStyle/>
          <a:p>
            <a:r>
              <a:rPr lang="ru-RU" sz="1400" dirty="0"/>
              <a:t>Е</a:t>
            </a:r>
            <a:r>
              <a:rPr lang="ru-KG" sz="1400" dirty="0"/>
              <a:t>сли загрузить фотографии колеса, очереди к складу, ошибки на бумагах итд, </a:t>
            </a:r>
            <a:r>
              <a:rPr lang="en-US" sz="1400" dirty="0"/>
              <a:t>ROC </a:t>
            </a:r>
            <a:r>
              <a:rPr lang="ru-RU" sz="1400" dirty="0"/>
              <a:t>сможет быстрее понять в чем нужно разобраться и как вам помочь </a:t>
            </a:r>
            <a:endParaRPr lang="ru-KG" sz="1400" dirty="0"/>
          </a:p>
        </p:txBody>
      </p:sp>
    </p:spTree>
    <p:extLst>
      <p:ext uri="{BB962C8B-B14F-4D97-AF65-F5344CB8AC3E}">
        <p14:creationId xmlns:p14="http://schemas.microsoft.com/office/powerpoint/2010/main" val="67049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F1E40F-53F3-8A64-AD68-6C439D2AA17C}"/>
              </a:ext>
            </a:extLst>
          </p:cNvPr>
          <p:cNvSpPr>
            <a:spLocks noGrp="1"/>
          </p:cNvSpPr>
          <p:nvPr>
            <p:ph type="title"/>
          </p:nvPr>
        </p:nvSpPr>
        <p:spPr>
          <a:xfrm>
            <a:off x="533399" y="1016955"/>
            <a:ext cx="3491539" cy="4814502"/>
          </a:xfrm>
        </p:spPr>
        <p:txBody>
          <a:bodyPr>
            <a:normAutofit fontScale="90000"/>
          </a:bodyPr>
          <a:lstStyle/>
          <a:p>
            <a:br>
              <a:rPr lang="ru-RU" sz="1600" dirty="0"/>
            </a:br>
            <a:br>
              <a:rPr lang="ru-RU" sz="1600" cap="none" dirty="0">
                <a:latin typeface="Times New Roman" panose="02020603050405020304" pitchFamily="18" charset="0"/>
                <a:cs typeface="Times New Roman" panose="02020603050405020304" pitchFamily="18" charset="0"/>
              </a:rPr>
            </a:br>
            <a:r>
              <a:rPr lang="ru-RU" sz="1800" cap="none" dirty="0">
                <a:latin typeface="Times New Roman" panose="02020603050405020304" pitchFamily="18" charset="0"/>
                <a:cs typeface="Times New Roman" panose="02020603050405020304" pitchFamily="18" charset="0"/>
              </a:rPr>
              <a:t>Если водитель попал в трафик, дорога временно закрыта или инспекция его остановило </a:t>
            </a:r>
            <a:r>
              <a:rPr lang="ru-RU" sz="1800" cap="none" dirty="0" err="1">
                <a:latin typeface="Times New Roman" panose="02020603050405020304" pitchFamily="18" charset="0"/>
                <a:cs typeface="Times New Roman" panose="02020603050405020304" pitchFamily="18" charset="0"/>
              </a:rPr>
              <a:t>итд</a:t>
            </a:r>
            <a:r>
              <a:rPr lang="ru-RU" sz="1800" cap="none" dirty="0">
                <a:latin typeface="Times New Roman" panose="02020603050405020304" pitchFamily="18" charset="0"/>
                <a:cs typeface="Times New Roman" panose="02020603050405020304" pitchFamily="18" charset="0"/>
              </a:rPr>
              <a:t> и он опаздывает на доставку, мы нажимаем</a:t>
            </a:r>
            <a:br>
              <a:rPr lang="ru-RU" sz="1800" cap="none" dirty="0">
                <a:latin typeface="Times New Roman" panose="02020603050405020304" pitchFamily="18" charset="0"/>
                <a:cs typeface="Times New Roman" panose="02020603050405020304" pitchFamily="18" charset="0"/>
              </a:rPr>
            </a:br>
            <a:br>
              <a:rPr lang="ru-RU" sz="1800" cap="none" dirty="0">
                <a:latin typeface="Times New Roman" panose="02020603050405020304" pitchFamily="18" charset="0"/>
                <a:cs typeface="Times New Roman" panose="02020603050405020304" pitchFamily="18" charset="0"/>
              </a:rPr>
            </a:br>
            <a:br>
              <a:rPr lang="ru-RU" sz="1800" cap="none" dirty="0">
                <a:latin typeface="Times New Roman" panose="02020603050405020304" pitchFamily="18" charset="0"/>
                <a:cs typeface="Times New Roman" panose="02020603050405020304" pitchFamily="18" charset="0"/>
              </a:rPr>
            </a:br>
            <a:r>
              <a:rPr lang="ru-RU" sz="1800" cap="none" dirty="0">
                <a:latin typeface="Times New Roman" panose="02020603050405020304" pitchFamily="18" charset="0"/>
                <a:cs typeface="Times New Roman" panose="02020603050405020304" pitchFamily="18" charset="0"/>
              </a:rPr>
              <a:t>после появляется окошко как справа. Тут надо будет указать причину из списка и передвинуть время на доставку, которое нужно сверить с водителем заранее</a:t>
            </a:r>
            <a:br>
              <a:rPr lang="ru-RU" sz="1800" cap="none" dirty="0">
                <a:latin typeface="Times New Roman" panose="02020603050405020304" pitchFamily="18" charset="0"/>
                <a:cs typeface="Times New Roman" panose="02020603050405020304" pitchFamily="18" charset="0"/>
              </a:rPr>
            </a:br>
            <a:br>
              <a:rPr lang="ru-RU" sz="1800" cap="none" dirty="0">
                <a:latin typeface="Times New Roman" panose="02020603050405020304" pitchFamily="18" charset="0"/>
                <a:cs typeface="Times New Roman" panose="02020603050405020304" pitchFamily="18" charset="0"/>
              </a:rPr>
            </a:br>
            <a:r>
              <a:rPr lang="ru-RU" sz="1800" cap="none" dirty="0">
                <a:latin typeface="Times New Roman" panose="02020603050405020304" pitchFamily="18" charset="0"/>
                <a:cs typeface="Times New Roman" panose="02020603050405020304" pitchFamily="18" charset="0"/>
              </a:rPr>
              <a:t>как только проблема будет устранена, вы можете указать в комментариях под грузом о том что починились и выехали на доставку</a:t>
            </a:r>
            <a:br>
              <a:rPr lang="ru-RU" sz="1800" cap="none" dirty="0">
                <a:latin typeface="Times New Roman" panose="02020603050405020304" pitchFamily="18" charset="0"/>
                <a:cs typeface="Times New Roman" panose="02020603050405020304" pitchFamily="18" charset="0"/>
              </a:rPr>
            </a:br>
            <a:br>
              <a:rPr lang="ru-RU" sz="1800" cap="none" dirty="0">
                <a:latin typeface="Times New Roman" panose="02020603050405020304" pitchFamily="18" charset="0"/>
                <a:cs typeface="Times New Roman" panose="02020603050405020304" pitchFamily="18" charset="0"/>
              </a:rPr>
            </a:br>
            <a:br>
              <a:rPr lang="ru-RU" sz="1800" cap="none" dirty="0">
                <a:latin typeface="Times New Roman" panose="02020603050405020304" pitchFamily="18" charset="0"/>
                <a:cs typeface="Times New Roman" panose="02020603050405020304" pitchFamily="18" charset="0"/>
              </a:rPr>
            </a:br>
            <a:br>
              <a:rPr lang="ru-RU" sz="1800" cap="none" dirty="0">
                <a:latin typeface="Times New Roman" panose="02020603050405020304" pitchFamily="18" charset="0"/>
                <a:cs typeface="Times New Roman" panose="02020603050405020304" pitchFamily="18" charset="0"/>
              </a:rPr>
            </a:br>
            <a:r>
              <a:rPr lang="ru-RU" sz="1800" cap="none" dirty="0">
                <a:latin typeface="Times New Roman" panose="02020603050405020304" pitchFamily="18" charset="0"/>
                <a:cs typeface="Times New Roman" panose="02020603050405020304" pitchFamily="18" charset="0"/>
              </a:rPr>
              <a:t> «</a:t>
            </a:r>
            <a:r>
              <a:rPr lang="en-US" sz="1800" cap="none" dirty="0">
                <a:latin typeface="Times New Roman" panose="02020603050405020304" pitchFamily="18" charset="0"/>
                <a:cs typeface="Times New Roman" panose="02020603050405020304" pitchFamily="18" charset="0"/>
              </a:rPr>
              <a:t>we got fixed and start rolling to delivery. ETA 7pm</a:t>
            </a:r>
            <a:r>
              <a:rPr lang="ru-RU" sz="1800" cap="none" dirty="0">
                <a:latin typeface="Times New Roman" panose="02020603050405020304" pitchFamily="18" charset="0"/>
                <a:cs typeface="Times New Roman" panose="02020603050405020304" pitchFamily="18" charset="0"/>
              </a:rPr>
              <a:t>» </a:t>
            </a:r>
            <a:endParaRPr lang="ru-KG" sz="1800" dirty="0">
              <a:latin typeface="Times New Roman" panose="02020603050405020304" pitchFamily="18" charset="0"/>
              <a:cs typeface="Times New Roman" panose="02020603050405020304" pitchFamily="18" charset="0"/>
            </a:endParaRPr>
          </a:p>
        </p:txBody>
      </p:sp>
      <p:pic>
        <p:nvPicPr>
          <p:cNvPr id="5" name="Объект 4">
            <a:extLst>
              <a:ext uri="{FF2B5EF4-FFF2-40B4-BE49-F238E27FC236}">
                <a16:creationId xmlns:a16="http://schemas.microsoft.com/office/drawing/2014/main" id="{BCB76499-DBEE-A7FD-A773-C74017C766E1}"/>
              </a:ext>
            </a:extLst>
          </p:cNvPr>
          <p:cNvPicPr>
            <a:picLocks noGrp="1" noChangeAspect="1"/>
          </p:cNvPicPr>
          <p:nvPr>
            <p:ph sz="quarter" idx="13"/>
          </p:nvPr>
        </p:nvPicPr>
        <p:blipFill>
          <a:blip r:embed="rId2"/>
          <a:stretch>
            <a:fillRect/>
          </a:stretch>
        </p:blipFill>
        <p:spPr>
          <a:xfrm>
            <a:off x="4416357" y="1335426"/>
            <a:ext cx="7242243" cy="4215211"/>
          </a:xfrm>
          <a:prstGeom prst="rect">
            <a:avLst/>
          </a:prstGeom>
        </p:spPr>
      </p:pic>
      <p:pic>
        <p:nvPicPr>
          <p:cNvPr id="7" name="Рисунок 6">
            <a:extLst>
              <a:ext uri="{FF2B5EF4-FFF2-40B4-BE49-F238E27FC236}">
                <a16:creationId xmlns:a16="http://schemas.microsoft.com/office/drawing/2014/main" id="{30571A1D-6C95-447A-52EF-FDB11AFE40B5}"/>
              </a:ext>
            </a:extLst>
          </p:cNvPr>
          <p:cNvPicPr>
            <a:picLocks noChangeAspect="1"/>
          </p:cNvPicPr>
          <p:nvPr/>
        </p:nvPicPr>
        <p:blipFill>
          <a:blip r:embed="rId3"/>
          <a:stretch>
            <a:fillRect/>
          </a:stretch>
        </p:blipFill>
        <p:spPr>
          <a:xfrm>
            <a:off x="2190278" y="2288306"/>
            <a:ext cx="1616718" cy="389915"/>
          </a:xfrm>
          <a:prstGeom prst="rect">
            <a:avLst/>
          </a:prstGeom>
        </p:spPr>
      </p:pic>
      <p:pic>
        <p:nvPicPr>
          <p:cNvPr id="9" name="Рисунок 8">
            <a:extLst>
              <a:ext uri="{FF2B5EF4-FFF2-40B4-BE49-F238E27FC236}">
                <a16:creationId xmlns:a16="http://schemas.microsoft.com/office/drawing/2014/main" id="{53BA74C8-0315-2BD8-26E1-A1FA6C1EBD25}"/>
              </a:ext>
            </a:extLst>
          </p:cNvPr>
          <p:cNvPicPr>
            <a:picLocks noChangeAspect="1"/>
          </p:cNvPicPr>
          <p:nvPr/>
        </p:nvPicPr>
        <p:blipFill>
          <a:blip r:embed="rId4"/>
          <a:stretch>
            <a:fillRect/>
          </a:stretch>
        </p:blipFill>
        <p:spPr>
          <a:xfrm>
            <a:off x="1664451" y="4729402"/>
            <a:ext cx="2216541" cy="512049"/>
          </a:xfrm>
          <a:prstGeom prst="rect">
            <a:avLst/>
          </a:prstGeom>
        </p:spPr>
      </p:pic>
    </p:spTree>
    <p:extLst>
      <p:ext uri="{BB962C8B-B14F-4D97-AF65-F5344CB8AC3E}">
        <p14:creationId xmlns:p14="http://schemas.microsoft.com/office/powerpoint/2010/main" val="518702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5DC96D-70D8-7F4C-FBE3-68A26DBED00A}"/>
              </a:ext>
            </a:extLst>
          </p:cNvPr>
          <p:cNvSpPr>
            <a:spLocks noGrp="1"/>
          </p:cNvSpPr>
          <p:nvPr>
            <p:ph type="title"/>
          </p:nvPr>
        </p:nvSpPr>
        <p:spPr>
          <a:xfrm>
            <a:off x="533399" y="1016954"/>
            <a:ext cx="4503550" cy="5330757"/>
          </a:xfrm>
        </p:spPr>
        <p:txBody>
          <a:bodyPr>
            <a:noAutofit/>
          </a:bodyPr>
          <a:lstStyle/>
          <a:p>
            <a:r>
              <a:rPr lang="ru-KG" sz="1800" cap="none" dirty="0">
                <a:latin typeface="Times New Roman" panose="02020603050405020304" pitchFamily="18" charset="0"/>
                <a:cs typeface="Times New Roman" panose="02020603050405020304" pitchFamily="18" charset="0"/>
              </a:rPr>
              <a:t>У системы </a:t>
            </a:r>
            <a:r>
              <a:rPr lang="en-US" sz="1800" cap="none" dirty="0">
                <a:latin typeface="Times New Roman" panose="02020603050405020304" pitchFamily="18" charset="0"/>
                <a:cs typeface="Times New Roman" panose="02020603050405020304" pitchFamily="18" charset="0"/>
              </a:rPr>
              <a:t>amazon </a:t>
            </a:r>
            <a:r>
              <a:rPr lang="ru-RU" sz="1800" cap="none" dirty="0">
                <a:latin typeface="Times New Roman" panose="02020603050405020304" pitchFamily="18" charset="0"/>
                <a:cs typeface="Times New Roman" panose="02020603050405020304" pitchFamily="18" charset="0"/>
              </a:rPr>
              <a:t>есть свой </a:t>
            </a:r>
            <a:r>
              <a:rPr lang="ru-RU" sz="1800" cap="none" dirty="0" err="1">
                <a:latin typeface="Times New Roman" panose="02020603050405020304" pitchFamily="18" charset="0"/>
                <a:cs typeface="Times New Roman" panose="02020603050405020304" pitchFamily="18" charset="0"/>
              </a:rPr>
              <a:t>тракинг</a:t>
            </a:r>
            <a:r>
              <a:rPr lang="ru-RU" sz="1800" cap="none" dirty="0">
                <a:latin typeface="Times New Roman" panose="02020603050405020304" pitchFamily="18" charset="0"/>
                <a:cs typeface="Times New Roman" panose="02020603050405020304" pitchFamily="18" charset="0"/>
              </a:rPr>
              <a:t>. Кнопка находится снизу под каждым грузом.</a:t>
            </a:r>
            <a:br>
              <a:rPr lang="ru-RU" sz="1800" cap="none" dirty="0">
                <a:latin typeface="Times New Roman" panose="02020603050405020304" pitchFamily="18" charset="0"/>
                <a:cs typeface="Times New Roman" panose="02020603050405020304" pitchFamily="18" charset="0"/>
              </a:rPr>
            </a:br>
            <a:br>
              <a:rPr lang="ru-RU" sz="1800" cap="none" dirty="0">
                <a:latin typeface="Times New Roman" panose="02020603050405020304" pitchFamily="18" charset="0"/>
                <a:cs typeface="Times New Roman" panose="02020603050405020304" pitchFamily="18" charset="0"/>
              </a:rPr>
            </a:br>
            <a:br>
              <a:rPr lang="ru-RU" sz="1800" cap="none" dirty="0">
                <a:latin typeface="Times New Roman" panose="02020603050405020304" pitchFamily="18" charset="0"/>
                <a:cs typeface="Times New Roman" panose="02020603050405020304" pitchFamily="18" charset="0"/>
              </a:rPr>
            </a:br>
            <a:br>
              <a:rPr lang="ru-RU" sz="1800" cap="none" dirty="0">
                <a:latin typeface="Times New Roman" panose="02020603050405020304" pitchFamily="18" charset="0"/>
                <a:cs typeface="Times New Roman" panose="02020603050405020304" pitchFamily="18" charset="0"/>
              </a:rPr>
            </a:br>
            <a:br>
              <a:rPr lang="ru-RU" sz="1800" cap="none" dirty="0">
                <a:latin typeface="Times New Roman" panose="02020603050405020304" pitchFamily="18" charset="0"/>
                <a:cs typeface="Times New Roman" panose="02020603050405020304" pitchFamily="18" charset="0"/>
              </a:rPr>
            </a:br>
            <a:r>
              <a:rPr lang="ru-RU" sz="1800" cap="none" dirty="0">
                <a:latin typeface="Times New Roman" panose="02020603050405020304" pitchFamily="18" charset="0"/>
                <a:cs typeface="Times New Roman" panose="02020603050405020304" pitchFamily="18" charset="0"/>
              </a:rPr>
              <a:t>На окне появляется вся информация о местонахождении груза, стопах, расчетное время прибытия. В амазон грузах благодаря этой функции нет необходимости перепроверять расстояние до доставки и время</a:t>
            </a:r>
            <a:br>
              <a:rPr lang="ru-RU" sz="1800" cap="none" dirty="0">
                <a:latin typeface="Times New Roman" panose="02020603050405020304" pitchFamily="18" charset="0"/>
                <a:cs typeface="Times New Roman" panose="02020603050405020304" pitchFamily="18" charset="0"/>
              </a:rPr>
            </a:br>
            <a:br>
              <a:rPr lang="ru-RU" sz="1800" cap="none" dirty="0">
                <a:latin typeface="Times New Roman" panose="02020603050405020304" pitchFamily="18" charset="0"/>
                <a:cs typeface="Times New Roman" panose="02020603050405020304" pitchFamily="18" charset="0"/>
              </a:rPr>
            </a:br>
            <a:br>
              <a:rPr lang="ru-RU" sz="1800" cap="none" dirty="0">
                <a:latin typeface="Times New Roman" panose="02020603050405020304" pitchFamily="18" charset="0"/>
                <a:cs typeface="Times New Roman" panose="02020603050405020304" pitchFamily="18" charset="0"/>
              </a:rPr>
            </a:br>
            <a:r>
              <a:rPr lang="ru-RU" sz="1800" cap="none" dirty="0">
                <a:latin typeface="Times New Roman" panose="02020603050405020304" pitchFamily="18" charset="0"/>
                <a:cs typeface="Times New Roman" panose="02020603050405020304" pitchFamily="18" charset="0"/>
              </a:rPr>
              <a:t>если вдруг вы не проследили и водитель уже опаздывает, на главной странице время прибытия загорится красным. В таком случаи нужно в срочном порядке выполнить все вышеуказанные инструкции, с предыдущего слайда</a:t>
            </a:r>
            <a:endParaRPr lang="ru-KG" sz="1800" cap="none" dirty="0">
              <a:latin typeface="Times New Roman" panose="02020603050405020304" pitchFamily="18" charset="0"/>
              <a:cs typeface="Times New Roman" panose="02020603050405020304" pitchFamily="18" charset="0"/>
            </a:endParaRPr>
          </a:p>
        </p:txBody>
      </p:sp>
      <p:pic>
        <p:nvPicPr>
          <p:cNvPr id="13" name="Объект 12">
            <a:extLst>
              <a:ext uri="{FF2B5EF4-FFF2-40B4-BE49-F238E27FC236}">
                <a16:creationId xmlns:a16="http://schemas.microsoft.com/office/drawing/2014/main" id="{9A5E0864-35F8-1847-DB92-C30EBB6C00F0}"/>
              </a:ext>
            </a:extLst>
          </p:cNvPr>
          <p:cNvPicPr>
            <a:picLocks noGrp="1" noChangeAspect="1"/>
          </p:cNvPicPr>
          <p:nvPr>
            <p:ph sz="quarter" idx="13"/>
          </p:nvPr>
        </p:nvPicPr>
        <p:blipFill>
          <a:blip r:embed="rId2"/>
          <a:stretch>
            <a:fillRect/>
          </a:stretch>
        </p:blipFill>
        <p:spPr>
          <a:xfrm>
            <a:off x="5249440" y="797667"/>
            <a:ext cx="5955835" cy="5550043"/>
          </a:xfrm>
          <a:prstGeom prst="rect">
            <a:avLst/>
          </a:prstGeom>
        </p:spPr>
      </p:pic>
      <p:pic>
        <p:nvPicPr>
          <p:cNvPr id="15" name="Рисунок 14">
            <a:extLst>
              <a:ext uri="{FF2B5EF4-FFF2-40B4-BE49-F238E27FC236}">
                <a16:creationId xmlns:a16="http://schemas.microsoft.com/office/drawing/2014/main" id="{61CEB549-ADD0-39D3-65B5-5B93C5F5507C}"/>
              </a:ext>
            </a:extLst>
          </p:cNvPr>
          <p:cNvPicPr>
            <a:picLocks noChangeAspect="1"/>
          </p:cNvPicPr>
          <p:nvPr/>
        </p:nvPicPr>
        <p:blipFill>
          <a:blip r:embed="rId3"/>
          <a:stretch>
            <a:fillRect/>
          </a:stretch>
        </p:blipFill>
        <p:spPr>
          <a:xfrm>
            <a:off x="3448332" y="1709209"/>
            <a:ext cx="754002" cy="706877"/>
          </a:xfrm>
          <a:prstGeom prst="rect">
            <a:avLst/>
          </a:prstGeom>
        </p:spPr>
      </p:pic>
    </p:spTree>
    <p:extLst>
      <p:ext uri="{BB962C8B-B14F-4D97-AF65-F5344CB8AC3E}">
        <p14:creationId xmlns:p14="http://schemas.microsoft.com/office/powerpoint/2010/main" val="1884205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9E7C40-6966-53EA-37E6-DCB63BD8BC1F}"/>
              </a:ext>
            </a:extLst>
          </p:cNvPr>
          <p:cNvSpPr>
            <a:spLocks noGrp="1"/>
          </p:cNvSpPr>
          <p:nvPr>
            <p:ph type="title"/>
          </p:nvPr>
        </p:nvSpPr>
        <p:spPr>
          <a:xfrm>
            <a:off x="533399" y="801746"/>
            <a:ext cx="6100865" cy="5963237"/>
          </a:xfrm>
        </p:spPr>
        <p:txBody>
          <a:bodyPr>
            <a:normAutofit fontScale="90000"/>
          </a:bodyPr>
          <a:lstStyle/>
          <a:p>
            <a:r>
              <a:rPr lang="ru-RU" sz="1600" cap="none" dirty="0">
                <a:latin typeface="Times New Roman" panose="02020603050405020304" pitchFamily="18" charset="0"/>
                <a:cs typeface="Times New Roman" panose="02020603050405020304" pitchFamily="18" charset="0"/>
              </a:rPr>
              <a:t>К</a:t>
            </a:r>
            <a:r>
              <a:rPr lang="ru-KG" sz="1600" cap="none" dirty="0">
                <a:latin typeface="Times New Roman" panose="02020603050405020304" pitchFamily="18" charset="0"/>
                <a:cs typeface="Times New Roman" panose="02020603050405020304" pitchFamily="18" charset="0"/>
              </a:rPr>
              <a:t>огда водитель заезжает В </a:t>
            </a:r>
            <a:r>
              <a:rPr lang="en-US" sz="1600" cap="none" dirty="0">
                <a:latin typeface="Times New Roman" panose="02020603050405020304" pitchFamily="18" charset="0"/>
                <a:cs typeface="Times New Roman" panose="02020603050405020304" pitchFamily="18" charset="0"/>
              </a:rPr>
              <a:t>facility</a:t>
            </a:r>
            <a:r>
              <a:rPr lang="ru-KG" sz="1600" cap="none" dirty="0">
                <a:latin typeface="Times New Roman" panose="02020603050405020304" pitchFamily="18" charset="0"/>
                <a:cs typeface="Times New Roman" panose="02020603050405020304" pitchFamily="18" charset="0"/>
              </a:rPr>
              <a:t>, он должен сделать </a:t>
            </a:r>
            <a:r>
              <a:rPr lang="en-US" sz="1600" cap="none" dirty="0">
                <a:latin typeface="Times New Roman" panose="02020603050405020304" pitchFamily="18" charset="0"/>
                <a:cs typeface="Times New Roman" panose="02020603050405020304" pitchFamily="18" charset="0"/>
              </a:rPr>
              <a:t>check in (</a:t>
            </a:r>
            <a:r>
              <a:rPr lang="ru-RU" sz="1600" cap="none" dirty="0">
                <a:latin typeface="Times New Roman" panose="02020603050405020304" pitchFamily="18" charset="0"/>
                <a:cs typeface="Times New Roman" panose="02020603050405020304" pitchFamily="18" charset="0"/>
              </a:rPr>
              <a:t>Т.Е отметиться О прибытии)</a:t>
            </a:r>
            <a:r>
              <a:rPr lang="ru-KG" sz="1600" cap="none" dirty="0">
                <a:latin typeface="Times New Roman" panose="02020603050405020304" pitchFamily="18" charset="0"/>
                <a:cs typeface="Times New Roman" panose="02020603050405020304" pitchFamily="18" charset="0"/>
              </a:rPr>
              <a:t> В </a:t>
            </a:r>
            <a:r>
              <a:rPr lang="en-US" sz="1600" cap="none" dirty="0">
                <a:latin typeface="Times New Roman" panose="02020603050405020304" pitchFamily="18" charset="0"/>
                <a:cs typeface="Times New Roman" panose="02020603050405020304" pitchFamily="18" charset="0"/>
              </a:rPr>
              <a:t>guard shack</a:t>
            </a:r>
            <a:r>
              <a:rPr lang="ru-RU" sz="1600" cap="none" dirty="0">
                <a:latin typeface="Times New Roman" panose="02020603050405020304" pitchFamily="18" charset="0"/>
                <a:cs typeface="Times New Roman" panose="02020603050405020304" pitchFamily="18" charset="0"/>
              </a:rPr>
              <a:t> со своим номером груза, </a:t>
            </a:r>
            <a:r>
              <a:rPr lang="ru-RU" sz="1600" cap="none" dirty="0" err="1">
                <a:latin typeface="Times New Roman" panose="02020603050405020304" pitchFamily="18" charset="0"/>
                <a:cs typeface="Times New Roman" panose="02020603050405020304" pitchFamily="18" charset="0"/>
              </a:rPr>
              <a:t>апдейтор</a:t>
            </a:r>
            <a:r>
              <a:rPr lang="ru-RU" sz="1600" cap="none" dirty="0">
                <a:latin typeface="Times New Roman" panose="02020603050405020304" pitchFamily="18" charset="0"/>
                <a:cs typeface="Times New Roman" panose="02020603050405020304" pitchFamily="18" charset="0"/>
              </a:rPr>
              <a:t> должен проверить появился ли значок </a:t>
            </a:r>
            <a:r>
              <a:rPr lang="en-US" sz="1600" cap="none" dirty="0">
                <a:latin typeface="Times New Roman" panose="02020603050405020304" pitchFamily="18" charset="0"/>
                <a:cs typeface="Times New Roman" panose="02020603050405020304" pitchFamily="18" charset="0"/>
              </a:rPr>
              <a:t>Y+ </a:t>
            </a:r>
            <a:r>
              <a:rPr lang="ru-RU" sz="1600" cap="none" dirty="0">
                <a:latin typeface="Times New Roman" panose="02020603050405020304" pitchFamily="18" charset="0"/>
                <a:cs typeface="Times New Roman" panose="02020603050405020304" pitchFamily="18" charset="0"/>
              </a:rPr>
              <a:t> В системе. Так же У водителя есть </a:t>
            </a:r>
            <a:r>
              <a:rPr lang="en-US" sz="1600" cap="none" dirty="0">
                <a:latin typeface="Times New Roman" panose="02020603050405020304" pitchFamily="18" charset="0"/>
                <a:cs typeface="Times New Roman" panose="02020603050405020304" pitchFamily="18" charset="0"/>
              </a:rPr>
              <a:t>relay app</a:t>
            </a:r>
            <a:r>
              <a:rPr lang="ru-RU" sz="1600" cap="none" dirty="0">
                <a:latin typeface="Times New Roman" panose="02020603050405020304" pitchFamily="18" charset="0"/>
                <a:cs typeface="Times New Roman" panose="02020603050405020304" pitchFamily="18" charset="0"/>
              </a:rPr>
              <a:t>, где есть вся информация по грузу. Он отправляет все фотографии С пикапа. Это: трейлер С номером, если есть повреждения на нем, не помешает проверить</a:t>
            </a:r>
            <a:r>
              <a:rPr lang="en-US" sz="1600" cap="none" dirty="0">
                <a:latin typeface="Times New Roman" panose="02020603050405020304" pitchFamily="18" charset="0"/>
                <a:cs typeface="Times New Roman" panose="02020603050405020304" pitchFamily="18" charset="0"/>
              </a:rPr>
              <a:t> </a:t>
            </a:r>
            <a:r>
              <a:rPr lang="ru-RU" sz="1600" cap="none" dirty="0">
                <a:latin typeface="Times New Roman" panose="02020603050405020304" pitchFamily="18" charset="0"/>
                <a:cs typeface="Times New Roman" panose="02020603050405020304" pitchFamily="18" charset="0"/>
              </a:rPr>
              <a:t>даты на бумагах К трейлеру: </a:t>
            </a:r>
            <a:r>
              <a:rPr lang="en-US" sz="1600" cap="none" dirty="0">
                <a:latin typeface="Times New Roman" panose="02020603050405020304" pitchFamily="18" charset="0"/>
                <a:cs typeface="Times New Roman" panose="02020603050405020304" pitchFamily="18" charset="0"/>
              </a:rPr>
              <a:t>annual inspection</a:t>
            </a:r>
            <a:r>
              <a:rPr lang="ru-RU" sz="1600" cap="none" dirty="0">
                <a:latin typeface="Times New Roman" panose="02020603050405020304" pitchFamily="18" charset="0"/>
                <a:cs typeface="Times New Roman" panose="02020603050405020304" pitchFamily="18" charset="0"/>
              </a:rPr>
              <a:t>/ </a:t>
            </a:r>
            <a:r>
              <a:rPr lang="en-US" sz="1600" cap="none" dirty="0">
                <a:latin typeface="Times New Roman" panose="02020603050405020304" pitchFamily="18" charset="0"/>
                <a:cs typeface="Times New Roman" panose="02020603050405020304" pitchFamily="18" charset="0"/>
              </a:rPr>
              <a:t>registration</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ru-RU" sz="1600" cap="none" dirty="0">
                <a:latin typeface="Times New Roman" panose="02020603050405020304" pitchFamily="18" charset="0"/>
                <a:cs typeface="Times New Roman" panose="02020603050405020304" pitchFamily="18" charset="0"/>
              </a:rPr>
              <a:t>В телеграме есть группа, где есть много информации по складам амазон, </a:t>
            </a:r>
            <a:r>
              <a:rPr lang="en-US" sz="1600" cap="none" dirty="0">
                <a:latin typeface="Times New Roman" panose="02020603050405020304" pitchFamily="18" charset="0"/>
                <a:cs typeface="Times New Roman" panose="02020603050405020304" pitchFamily="18" charset="0"/>
              </a:rPr>
              <a:t>facility, </a:t>
            </a:r>
            <a:r>
              <a:rPr lang="ru-RU" sz="1600" cap="none" dirty="0">
                <a:latin typeface="Times New Roman" panose="02020603050405020304" pitchFamily="18" charset="0"/>
                <a:cs typeface="Times New Roman" panose="02020603050405020304" pitchFamily="18" charset="0"/>
              </a:rPr>
              <a:t>которые не работают во время праздником. Где нельзя парковаться и много нужной информации вы можете отыскать в этой группе.</a:t>
            </a:r>
            <a:br>
              <a:rPr lang="ru-RU" sz="1600" cap="none" dirty="0">
                <a:latin typeface="Times New Roman" panose="02020603050405020304" pitchFamily="18" charset="0"/>
                <a:cs typeface="Times New Roman" panose="02020603050405020304" pitchFamily="18" charset="0"/>
              </a:rPr>
            </a:br>
            <a:r>
              <a:rPr lang="en-US" sz="1600" cap="none" dirty="0">
                <a:latin typeface="Times New Roman" panose="02020603050405020304" pitchFamily="18" charset="0"/>
                <a:cs typeface="Times New Roman" panose="02020603050405020304" pitchFamily="18" charset="0"/>
              </a:rPr>
              <a:t>* link       </a:t>
            </a:r>
            <a:r>
              <a:rPr lang="ru-KG" sz="1600" cap="none" dirty="0">
                <a:latin typeface="Times New Roman" panose="02020603050405020304" pitchFamily="18" charset="0"/>
                <a:cs typeface="Times New Roman" panose="02020603050405020304" pitchFamily="18" charset="0"/>
              </a:rPr>
              <a:t>https://t.Me/restricted_roads</a:t>
            </a:r>
            <a:br>
              <a:rPr lang="ru-KG" sz="1600" cap="none" dirty="0">
                <a:latin typeface="Times New Roman" panose="02020603050405020304" pitchFamily="18" charset="0"/>
                <a:cs typeface="Times New Roman" panose="02020603050405020304" pitchFamily="18" charset="0"/>
              </a:rPr>
            </a:br>
            <a:br>
              <a:rPr lang="en-US" sz="1600" cap="none" dirty="0">
                <a:latin typeface="Times New Roman" panose="02020603050405020304" pitchFamily="18" charset="0"/>
                <a:cs typeface="Times New Roman" panose="02020603050405020304" pitchFamily="18" charset="0"/>
              </a:rPr>
            </a:br>
            <a:r>
              <a:rPr lang="ru-RU" sz="1600" cap="none" dirty="0">
                <a:latin typeface="Times New Roman" panose="02020603050405020304" pitchFamily="18" charset="0"/>
                <a:cs typeface="Times New Roman" panose="02020603050405020304" pitchFamily="18" charset="0"/>
              </a:rPr>
              <a:t>обязательно проверяем </a:t>
            </a:r>
            <a:r>
              <a:rPr lang="en-US" sz="1600" cap="none" dirty="0">
                <a:latin typeface="Times New Roman" panose="02020603050405020304" pitchFamily="18" charset="0"/>
                <a:cs typeface="Times New Roman" panose="02020603050405020304" pitchFamily="18" charset="0"/>
              </a:rPr>
              <a:t>BOL </a:t>
            </a:r>
            <a:r>
              <a:rPr lang="ru-RU" sz="1600" cap="none" dirty="0">
                <a:latin typeface="Times New Roman" panose="02020603050405020304" pitchFamily="18" charset="0"/>
                <a:cs typeface="Times New Roman" panose="02020603050405020304" pitchFamily="18" charset="0"/>
              </a:rPr>
              <a:t>на соответствие данных в системе:</a:t>
            </a:r>
            <a:br>
              <a:rPr lang="ru-RU" sz="1600" cap="none" dirty="0">
                <a:latin typeface="Times New Roman" panose="02020603050405020304" pitchFamily="18" charset="0"/>
                <a:cs typeface="Times New Roman" panose="02020603050405020304" pitchFamily="18" charset="0"/>
              </a:rPr>
            </a:br>
            <a:r>
              <a:rPr lang="ru-RU" sz="1600" cap="none" dirty="0">
                <a:latin typeface="Times New Roman" panose="02020603050405020304" pitchFamily="18" charset="0"/>
                <a:cs typeface="Times New Roman" panose="02020603050405020304" pitchFamily="18" charset="0"/>
              </a:rPr>
              <a:t>пикап и деливери адреса, номер трейлера, вес груза</a:t>
            </a:r>
            <a:br>
              <a:rPr lang="ru-RU" sz="1600" cap="none" dirty="0">
                <a:latin typeface="Times New Roman" panose="02020603050405020304" pitchFamily="18" charset="0"/>
                <a:cs typeface="Times New Roman" panose="02020603050405020304" pitchFamily="18" charset="0"/>
              </a:rPr>
            </a:br>
            <a:r>
              <a:rPr lang="en-US" sz="1600" cap="none" dirty="0">
                <a:latin typeface="Times New Roman" panose="02020603050405020304" pitchFamily="18" charset="0"/>
                <a:cs typeface="Times New Roman" panose="02020603050405020304" pitchFamily="18" charset="0"/>
              </a:rPr>
              <a:t>rate confirmation </a:t>
            </a:r>
            <a:r>
              <a:rPr lang="ru-RU" sz="1600" cap="none" dirty="0">
                <a:latin typeface="Times New Roman" panose="02020603050405020304" pitchFamily="18" charset="0"/>
                <a:cs typeface="Times New Roman" panose="02020603050405020304" pitchFamily="18" charset="0"/>
              </a:rPr>
              <a:t>каждый диспетчер отправляет по</a:t>
            </a:r>
            <a:br>
              <a:rPr lang="ru-RU" sz="1600" cap="none" dirty="0">
                <a:latin typeface="Times New Roman" panose="02020603050405020304" pitchFamily="18" charset="0"/>
                <a:cs typeface="Times New Roman" panose="02020603050405020304" pitchFamily="18" charset="0"/>
              </a:rPr>
            </a:br>
            <a:r>
              <a:rPr lang="ru-RU" sz="1600" cap="none" dirty="0">
                <a:latin typeface="Times New Roman" panose="02020603050405020304" pitchFamily="18" charset="0"/>
                <a:cs typeface="Times New Roman" panose="02020603050405020304" pitchFamily="18" charset="0"/>
              </a:rPr>
              <a:t>разному. Это может быть просто текст с заметками </a:t>
            </a:r>
            <a:br>
              <a:rPr lang="ru-RU" sz="1600" cap="none" dirty="0">
                <a:latin typeface="Times New Roman" panose="02020603050405020304" pitchFamily="18" charset="0"/>
                <a:cs typeface="Times New Roman" panose="02020603050405020304" pitchFamily="18" charset="0"/>
              </a:rPr>
            </a:br>
            <a:r>
              <a:rPr lang="ru-RU" sz="1600" cap="none" dirty="0">
                <a:latin typeface="Times New Roman" panose="02020603050405020304" pitchFamily="18" charset="0"/>
                <a:cs typeface="Times New Roman" panose="02020603050405020304" pitchFamily="18" charset="0"/>
              </a:rPr>
              <a:t>или же скриншот с амазона</a:t>
            </a:r>
            <a:br>
              <a:rPr lang="ru-RU" sz="1600" cap="none" dirty="0">
                <a:latin typeface="Times New Roman" panose="02020603050405020304" pitchFamily="18" charset="0"/>
                <a:cs typeface="Times New Roman" panose="02020603050405020304" pitchFamily="18" charset="0"/>
              </a:rPr>
            </a:br>
            <a:r>
              <a:rPr lang="en-US" sz="1600" cap="none" dirty="0">
                <a:latin typeface="Times New Roman" panose="02020603050405020304" pitchFamily="18" charset="0"/>
                <a:cs typeface="Times New Roman" panose="02020603050405020304" pitchFamily="18" charset="0"/>
              </a:rPr>
              <a:t>P.S.</a:t>
            </a:r>
            <a:r>
              <a:rPr lang="ru-RU" sz="1600" cap="none" dirty="0">
                <a:latin typeface="Times New Roman" panose="02020603050405020304" pitchFamily="18" charset="0"/>
                <a:cs typeface="Times New Roman" panose="02020603050405020304" pitchFamily="18" charset="0"/>
              </a:rPr>
              <a:t> Вес груза не должен превышать 80000 </a:t>
            </a:r>
            <a:r>
              <a:rPr lang="en-US" sz="1600" cap="none" dirty="0" err="1">
                <a:latin typeface="Times New Roman" panose="02020603050405020304" pitchFamily="18" charset="0"/>
                <a:cs typeface="Times New Roman" panose="02020603050405020304" pitchFamily="18" charset="0"/>
              </a:rPr>
              <a:t>lbs</a:t>
            </a:r>
            <a:br>
              <a:rPr lang="en-US" sz="1300" dirty="0"/>
            </a:br>
            <a:br>
              <a:rPr lang="en-US" sz="1200" dirty="0"/>
            </a:br>
            <a:br>
              <a:rPr lang="en-US" sz="1200" dirty="0"/>
            </a:br>
            <a:br>
              <a:rPr lang="en-US" sz="1200" dirty="0"/>
            </a:br>
            <a:br>
              <a:rPr lang="en-US" sz="1200" dirty="0"/>
            </a:br>
            <a:br>
              <a:rPr lang="en-US" sz="1200" dirty="0"/>
            </a:br>
            <a:br>
              <a:rPr lang="en-US" sz="1200" dirty="0"/>
            </a:br>
            <a:br>
              <a:rPr lang="en-US" sz="1200" dirty="0"/>
            </a:br>
            <a:br>
              <a:rPr lang="en-US" sz="1200" dirty="0"/>
            </a:br>
            <a:br>
              <a:rPr lang="en-US" sz="1200" dirty="0"/>
            </a:br>
            <a:br>
              <a:rPr lang="en-US" sz="1200" dirty="0"/>
            </a:br>
            <a:br>
              <a:rPr lang="en-US" sz="1200" dirty="0"/>
            </a:br>
            <a:br>
              <a:rPr lang="en-US" sz="1200" dirty="0"/>
            </a:br>
            <a:br>
              <a:rPr lang="en-US" sz="1200" dirty="0"/>
            </a:br>
            <a:br>
              <a:rPr lang="en-US" sz="1200" dirty="0"/>
            </a:br>
            <a:br>
              <a:rPr lang="en-US" sz="1200" dirty="0"/>
            </a:br>
            <a:br>
              <a:rPr lang="en-US" sz="1200" dirty="0"/>
            </a:br>
            <a:br>
              <a:rPr lang="en-US" sz="1200" dirty="0"/>
            </a:br>
            <a:br>
              <a:rPr lang="en-US" sz="1200" dirty="0"/>
            </a:br>
            <a:br>
              <a:rPr lang="en-US" sz="1200" dirty="0"/>
            </a:br>
            <a:endParaRPr lang="ru-KG" sz="1200" dirty="0"/>
          </a:p>
        </p:txBody>
      </p:sp>
      <p:pic>
        <p:nvPicPr>
          <p:cNvPr id="5" name="Объект 4">
            <a:extLst>
              <a:ext uri="{FF2B5EF4-FFF2-40B4-BE49-F238E27FC236}">
                <a16:creationId xmlns:a16="http://schemas.microsoft.com/office/drawing/2014/main" id="{05635805-928B-0732-F14B-A881B7E21777}"/>
              </a:ext>
            </a:extLst>
          </p:cNvPr>
          <p:cNvPicPr>
            <a:picLocks noGrp="1" noChangeAspect="1"/>
          </p:cNvPicPr>
          <p:nvPr>
            <p:ph sz="quarter" idx="13"/>
          </p:nvPr>
        </p:nvPicPr>
        <p:blipFill>
          <a:blip r:embed="rId2"/>
          <a:srcRect l="14000" r="1847"/>
          <a:stretch>
            <a:fillRect/>
          </a:stretch>
        </p:blipFill>
        <p:spPr>
          <a:xfrm>
            <a:off x="6867727" y="801747"/>
            <a:ext cx="2163710" cy="3428220"/>
          </a:xfrm>
          <a:prstGeom prst="rect">
            <a:avLst/>
          </a:prstGeom>
        </p:spPr>
      </p:pic>
      <p:pic>
        <p:nvPicPr>
          <p:cNvPr id="7" name="Рисунок 6">
            <a:extLst>
              <a:ext uri="{FF2B5EF4-FFF2-40B4-BE49-F238E27FC236}">
                <a16:creationId xmlns:a16="http://schemas.microsoft.com/office/drawing/2014/main" id="{F5FC850F-89F6-F780-9776-E2D3A1087520}"/>
              </a:ext>
            </a:extLst>
          </p:cNvPr>
          <p:cNvPicPr>
            <a:picLocks noChangeAspect="1"/>
          </p:cNvPicPr>
          <p:nvPr/>
        </p:nvPicPr>
        <p:blipFill>
          <a:blip r:embed="rId3"/>
          <a:srcRect l="1012"/>
          <a:stretch>
            <a:fillRect/>
          </a:stretch>
        </p:blipFill>
        <p:spPr>
          <a:xfrm>
            <a:off x="9113466" y="844988"/>
            <a:ext cx="2545135" cy="3428220"/>
          </a:xfrm>
          <a:prstGeom prst="rect">
            <a:avLst/>
          </a:prstGeom>
        </p:spPr>
      </p:pic>
      <p:pic>
        <p:nvPicPr>
          <p:cNvPr id="11" name="Рисунок 10">
            <a:extLst>
              <a:ext uri="{FF2B5EF4-FFF2-40B4-BE49-F238E27FC236}">
                <a16:creationId xmlns:a16="http://schemas.microsoft.com/office/drawing/2014/main" id="{6DC709C2-76A4-D806-46A9-45DFB74EB3C8}"/>
              </a:ext>
            </a:extLst>
          </p:cNvPr>
          <p:cNvPicPr>
            <a:picLocks noChangeAspect="1"/>
          </p:cNvPicPr>
          <p:nvPr/>
        </p:nvPicPr>
        <p:blipFill>
          <a:blip r:embed="rId4"/>
          <a:srcRect t="11305"/>
          <a:stretch>
            <a:fillRect/>
          </a:stretch>
        </p:blipFill>
        <p:spPr>
          <a:xfrm>
            <a:off x="6961535" y="4273208"/>
            <a:ext cx="4747788" cy="2491775"/>
          </a:xfrm>
          <a:prstGeom prst="rect">
            <a:avLst/>
          </a:prstGeom>
        </p:spPr>
      </p:pic>
      <p:pic>
        <p:nvPicPr>
          <p:cNvPr id="13" name="Рисунок 12">
            <a:extLst>
              <a:ext uri="{FF2B5EF4-FFF2-40B4-BE49-F238E27FC236}">
                <a16:creationId xmlns:a16="http://schemas.microsoft.com/office/drawing/2014/main" id="{4DBF803E-6F00-F758-D8B7-BF80510A5059}"/>
              </a:ext>
            </a:extLst>
          </p:cNvPr>
          <p:cNvPicPr>
            <a:picLocks noChangeAspect="1"/>
          </p:cNvPicPr>
          <p:nvPr/>
        </p:nvPicPr>
        <p:blipFill>
          <a:blip r:embed="rId5"/>
          <a:stretch>
            <a:fillRect/>
          </a:stretch>
        </p:blipFill>
        <p:spPr>
          <a:xfrm>
            <a:off x="5131362" y="3233036"/>
            <a:ext cx="660400" cy="352213"/>
          </a:xfrm>
          <a:prstGeom prst="rect">
            <a:avLst/>
          </a:prstGeom>
        </p:spPr>
      </p:pic>
      <p:pic>
        <p:nvPicPr>
          <p:cNvPr id="15" name="Рисунок 14">
            <a:extLst>
              <a:ext uri="{FF2B5EF4-FFF2-40B4-BE49-F238E27FC236}">
                <a16:creationId xmlns:a16="http://schemas.microsoft.com/office/drawing/2014/main" id="{8E176097-C96D-9983-BEE3-B4D43C5E22CA}"/>
              </a:ext>
            </a:extLst>
          </p:cNvPr>
          <p:cNvPicPr>
            <a:picLocks noChangeAspect="1"/>
          </p:cNvPicPr>
          <p:nvPr/>
        </p:nvPicPr>
        <p:blipFill>
          <a:blip r:embed="rId6"/>
          <a:stretch>
            <a:fillRect/>
          </a:stretch>
        </p:blipFill>
        <p:spPr>
          <a:xfrm>
            <a:off x="743343" y="3968150"/>
            <a:ext cx="5282412" cy="2568837"/>
          </a:xfrm>
          <a:prstGeom prst="rect">
            <a:avLst/>
          </a:prstGeom>
        </p:spPr>
      </p:pic>
    </p:spTree>
    <p:extLst>
      <p:ext uri="{BB962C8B-B14F-4D97-AF65-F5344CB8AC3E}">
        <p14:creationId xmlns:p14="http://schemas.microsoft.com/office/powerpoint/2010/main" val="2073239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EE4D30-A74F-D316-0DEF-F431D6910066}"/>
              </a:ext>
            </a:extLst>
          </p:cNvPr>
          <p:cNvSpPr>
            <a:spLocks noGrp="1"/>
          </p:cNvSpPr>
          <p:nvPr>
            <p:ph type="title"/>
          </p:nvPr>
        </p:nvSpPr>
        <p:spPr>
          <a:xfrm>
            <a:off x="530352" y="1014984"/>
            <a:ext cx="11128248" cy="822960"/>
          </a:xfrm>
        </p:spPr>
        <p:txBody>
          <a:bodyPr>
            <a:normAutofit fontScale="90000"/>
          </a:bodyPr>
          <a:lstStyle/>
          <a:p>
            <a:r>
              <a:rPr lang="en"/>
              <a:t>3. DAT </a:t>
            </a:r>
            <a:r>
              <a:rPr lang="ru-RU"/>
              <a:t>и </a:t>
            </a:r>
            <a:r>
              <a:rPr lang="en"/>
              <a:t>street loads — spot freight </a:t>
            </a:r>
            <a:r>
              <a:rPr lang="ru-RU"/>
              <a:t>за пределами </a:t>
            </a:r>
            <a:r>
              <a:rPr lang="en"/>
              <a:t>Amazon</a:t>
            </a:r>
          </a:p>
        </p:txBody>
      </p:sp>
      <p:sp>
        <p:nvSpPr>
          <p:cNvPr id="10" name="TextBox 9"/>
          <p:cNvSpPr txBox="1"/>
          <p:nvPr/>
        </p:nvSpPr>
        <p:spPr>
          <a:xfrm>
            <a:off x="530352" y="1993392"/>
            <a:ext cx="5257800" cy="4462760"/>
          </a:xfrm>
          <a:prstGeom prst="rect">
            <a:avLst/>
          </a:prstGeom>
          <a:noFill/>
        </p:spPr>
        <p:txBody>
          <a:bodyPr wrap="square" lIns="0" tIns="0" bIns="0" anchor="t">
            <a:spAutoFit/>
          </a:bodyPr>
          <a:lstStyle/>
          <a:p>
            <a:pPr algn="l">
              <a:spcAft>
                <a:spcPts val="1400"/>
              </a:spcAft>
              <a:buNone/>
            </a:pPr>
            <a:r>
              <a:rPr sz="1900" b="1" dirty="0"/>
              <a:t>DAT</a:t>
            </a:r>
          </a:p>
          <a:p>
            <a:pPr algn="l">
              <a:spcAft>
                <a:spcPts val="1600"/>
              </a:spcAft>
              <a:buNone/>
            </a:pPr>
            <a:r>
              <a:rPr sz="2200" b="1" dirty="0" err="1"/>
              <a:t>Крупная</a:t>
            </a:r>
            <a:r>
              <a:rPr sz="2200" b="1" dirty="0"/>
              <a:t> </a:t>
            </a:r>
            <a:r>
              <a:rPr sz="2200" b="1" dirty="0" err="1"/>
              <a:t>грузовая</a:t>
            </a:r>
            <a:r>
              <a:rPr sz="2200" b="1" dirty="0"/>
              <a:t> </a:t>
            </a:r>
            <a:r>
              <a:rPr sz="2200" b="1" dirty="0" err="1"/>
              <a:t>площадка</a:t>
            </a:r>
            <a:r>
              <a:rPr sz="2200" b="1" dirty="0"/>
              <a:t> — Load Board — </a:t>
            </a:r>
            <a:r>
              <a:rPr sz="2200" b="1" dirty="0" err="1"/>
              <a:t>для</a:t>
            </a:r>
            <a:r>
              <a:rPr sz="2200" b="1" dirty="0"/>
              <a:t> </a:t>
            </a:r>
            <a:r>
              <a:rPr sz="2200" b="1" dirty="0" err="1"/>
              <a:t>поиска</a:t>
            </a:r>
            <a:r>
              <a:rPr sz="2200" b="1" dirty="0"/>
              <a:t> spot freight </a:t>
            </a:r>
            <a:r>
              <a:rPr sz="2200" b="1" dirty="0" err="1"/>
              <a:t>на</a:t>
            </a:r>
            <a:r>
              <a:rPr sz="2200" b="1" dirty="0"/>
              <a:t> </a:t>
            </a:r>
            <a:r>
              <a:rPr sz="2200" b="1" dirty="0" err="1"/>
              <a:t>американском</a:t>
            </a:r>
            <a:r>
              <a:rPr sz="2200" b="1" dirty="0"/>
              <a:t> trucking market.</a:t>
            </a:r>
          </a:p>
          <a:p>
            <a:pPr algn="l">
              <a:spcAft>
                <a:spcPts val="0"/>
              </a:spcAft>
              <a:buNone/>
            </a:pPr>
            <a:r>
              <a:rPr sz="1800" b="0" dirty="0"/>
              <a:t>Carrier </a:t>
            </a:r>
            <a:r>
              <a:rPr sz="1800" b="0" dirty="0" err="1"/>
              <a:t>и</a:t>
            </a:r>
            <a:r>
              <a:rPr sz="1800" b="0" dirty="0"/>
              <a:t> Dispatcher </a:t>
            </a:r>
            <a:r>
              <a:rPr sz="1800" b="0" dirty="0" err="1"/>
              <a:t>находят</a:t>
            </a:r>
            <a:r>
              <a:rPr sz="1800" b="0" dirty="0"/>
              <a:t> loads </a:t>
            </a:r>
            <a:r>
              <a:rPr sz="1800" b="0" dirty="0" err="1"/>
              <a:t>от</a:t>
            </a:r>
            <a:r>
              <a:rPr sz="1800" b="0" dirty="0"/>
              <a:t> brokers </a:t>
            </a:r>
            <a:r>
              <a:rPr sz="1800" b="0" dirty="0" err="1"/>
              <a:t>и</a:t>
            </a:r>
            <a:r>
              <a:rPr sz="1800" b="0" dirty="0"/>
              <a:t> shippers, </a:t>
            </a:r>
            <a:r>
              <a:rPr sz="1800" b="0" dirty="0" err="1"/>
              <a:t>сравнивают</a:t>
            </a:r>
            <a:r>
              <a:rPr sz="1800" b="0" dirty="0"/>
              <a:t> </a:t>
            </a:r>
            <a:r>
              <a:rPr sz="1800" b="0" dirty="0" err="1"/>
              <a:t>варианты</a:t>
            </a:r>
            <a:r>
              <a:rPr sz="1800" b="0" dirty="0"/>
              <a:t>, </a:t>
            </a:r>
            <a:r>
              <a:rPr sz="1800" b="0" dirty="0" err="1"/>
              <a:t>ставки</a:t>
            </a:r>
            <a:r>
              <a:rPr sz="1800" b="0" dirty="0"/>
              <a:t> </a:t>
            </a:r>
            <a:r>
              <a:rPr sz="1800" b="0" dirty="0" err="1"/>
              <a:t>и</a:t>
            </a:r>
            <a:r>
              <a:rPr sz="1800" b="0" dirty="0"/>
              <a:t> </a:t>
            </a:r>
            <a:r>
              <a:rPr sz="1800" b="0" dirty="0" err="1"/>
              <a:t>данные</a:t>
            </a:r>
            <a:r>
              <a:rPr sz="1800" b="0" dirty="0"/>
              <a:t> </a:t>
            </a:r>
            <a:r>
              <a:rPr sz="1800" b="0" dirty="0" err="1"/>
              <a:t>о</a:t>
            </a:r>
            <a:r>
              <a:rPr sz="1800" b="0" dirty="0"/>
              <a:t> broker.</a:t>
            </a:r>
            <a:br>
              <a:rPr lang="en-US" sz="1800" b="0" dirty="0"/>
            </a:br>
            <a:br>
              <a:rPr lang="ru-RU" sz="1800" b="0" dirty="0"/>
            </a:br>
            <a:r>
              <a:rPr lang="ru-RU" sz="1800" b="0" dirty="0"/>
              <a:t>На уличных грузах для апдейта используются почта</a:t>
            </a:r>
            <a:r>
              <a:rPr lang="en-US" sz="1800" b="0" dirty="0"/>
              <a:t> </a:t>
            </a:r>
            <a:r>
              <a:rPr lang="en-US" sz="1800" b="0" dirty="0" err="1"/>
              <a:t>gmail</a:t>
            </a:r>
            <a:r>
              <a:rPr lang="ru-RU" sz="1800" b="0" dirty="0"/>
              <a:t>, телеграм чат, для звонков : </a:t>
            </a:r>
            <a:r>
              <a:rPr lang="en-US" sz="1800" b="0" dirty="0"/>
              <a:t>zoom, ring central</a:t>
            </a:r>
            <a:r>
              <a:rPr lang="ru-RU" sz="1800" b="0" dirty="0"/>
              <a:t> </a:t>
            </a:r>
            <a:r>
              <a:rPr lang="ru-RU" sz="1800" b="0" dirty="0" err="1"/>
              <a:t>итд</a:t>
            </a:r>
            <a:r>
              <a:rPr lang="ru-RU" sz="1800" b="0" dirty="0"/>
              <a:t>.</a:t>
            </a:r>
            <a:br>
              <a:rPr lang="ru-RU" sz="1800" b="0" dirty="0"/>
            </a:br>
            <a:r>
              <a:rPr lang="en-US" sz="1800" b="0" dirty="0"/>
              <a:t>Google </a:t>
            </a:r>
            <a:r>
              <a:rPr lang="en-US" sz="1800" b="0" dirty="0" err="1"/>
              <a:t>map,Swift</a:t>
            </a:r>
            <a:r>
              <a:rPr lang="en-US" sz="1800" b="0" dirty="0"/>
              <a:t> eld </a:t>
            </a:r>
            <a:r>
              <a:rPr lang="ru-RU" sz="1800" b="0" dirty="0"/>
              <a:t>для отслеживания местоположения, </a:t>
            </a:r>
            <a:r>
              <a:rPr lang="en-US" sz="1800" b="0" dirty="0"/>
              <a:t>EFS </a:t>
            </a:r>
            <a:r>
              <a:rPr lang="ru-RU" sz="1800" b="0" dirty="0"/>
              <a:t>для выдачи денежных средств на топливо, запчасти </a:t>
            </a:r>
            <a:r>
              <a:rPr lang="ru-RU" sz="1800" b="0" dirty="0" err="1"/>
              <a:t>итд</a:t>
            </a:r>
            <a:r>
              <a:rPr lang="ru-RU" sz="1800" b="0" dirty="0"/>
              <a:t>.</a:t>
            </a:r>
            <a:endParaRPr lang="en-US" sz="1800" b="0" dirty="0"/>
          </a:p>
        </p:txBody>
      </p:sp>
      <p:sp>
        <p:nvSpPr>
          <p:cNvPr id="11" name="TextBox 10"/>
          <p:cNvSpPr txBox="1"/>
          <p:nvPr/>
        </p:nvSpPr>
        <p:spPr>
          <a:xfrm>
            <a:off x="6236208" y="1993392"/>
            <a:ext cx="5047488" cy="3401568"/>
          </a:xfrm>
          <a:prstGeom prst="rect">
            <a:avLst/>
          </a:prstGeom>
          <a:noFill/>
        </p:spPr>
        <p:txBody>
          <a:bodyPr wrap="square" lIns="0" tIns="0" bIns="0" anchor="t">
            <a:spAutoFit/>
          </a:bodyPr>
          <a:lstStyle/>
          <a:p>
            <a:pPr algn="l">
              <a:spcAft>
                <a:spcPts val="1400"/>
              </a:spcAft>
              <a:buNone/>
            </a:pPr>
            <a:r>
              <a:rPr sz="1900" b="1"/>
              <a:t>«STREET LOADS»</a:t>
            </a:r>
          </a:p>
          <a:p>
            <a:pPr algn="l">
              <a:spcAft>
                <a:spcPts val="1600"/>
              </a:spcAft>
              <a:buNone/>
            </a:pPr>
            <a:r>
              <a:rPr sz="2100" b="1"/>
              <a:t>В курсе так называем грузы с общего рынка, которые не относятся к dedicated freight одной компании или напрямую к Amazon Relay.</a:t>
            </a:r>
          </a:p>
          <a:p>
            <a:pPr algn="l">
              <a:spcAft>
                <a:spcPts val="0"/>
              </a:spcAft>
              <a:buNone/>
            </a:pPr>
            <a:r>
              <a:rPr sz="1800" b="0"/>
              <a:t>Обычная схема: broker размещает load на Load Board, а carrier выбирает вариант и договаривается о перевозке.</a:t>
            </a:r>
          </a:p>
        </p:txBody>
      </p:sp>
      <p:sp>
        <p:nvSpPr>
          <p:cNvPr id="12" name="TextBox 11"/>
          <p:cNvSpPr txBox="1"/>
          <p:nvPr/>
        </p:nvSpPr>
        <p:spPr>
          <a:xfrm>
            <a:off x="530352" y="6510528"/>
            <a:ext cx="10972800" cy="182880"/>
          </a:xfrm>
          <a:prstGeom prst="rect">
            <a:avLst/>
          </a:prstGeom>
          <a:noFill/>
        </p:spPr>
        <p:txBody>
          <a:bodyPr wrap="square" lIns="0" tIns="0" bIns="0" anchor="t">
            <a:spAutoFit/>
          </a:bodyPr>
          <a:lstStyle/>
          <a:p>
            <a:pPr algn="l">
              <a:spcAft>
                <a:spcPts val="0"/>
              </a:spcAft>
              <a:buNone/>
            </a:pPr>
            <a:r>
              <a:rPr sz="800" b="0"/>
              <a:t>Источник: материалы курса Updater Academy.</a:t>
            </a:r>
          </a:p>
        </p:txBody>
      </p:sp>
    </p:spTree>
    <p:extLst>
      <p:ext uri="{BB962C8B-B14F-4D97-AF65-F5344CB8AC3E}">
        <p14:creationId xmlns:p14="http://schemas.microsoft.com/office/powerpoint/2010/main" val="454387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EE2D0D-84E5-A554-CDAB-E4C36A2D60DB}"/>
              </a:ext>
            </a:extLst>
          </p:cNvPr>
          <p:cNvSpPr>
            <a:spLocks noGrp="1"/>
          </p:cNvSpPr>
          <p:nvPr>
            <p:ph type="title"/>
          </p:nvPr>
        </p:nvSpPr>
        <p:spPr>
          <a:xfrm>
            <a:off x="533399" y="1016955"/>
            <a:ext cx="3520415" cy="5064868"/>
          </a:xfrm>
        </p:spPr>
        <p:txBody>
          <a:bodyPr>
            <a:normAutofit fontScale="90000"/>
          </a:bodyPr>
          <a:lstStyle/>
          <a:p>
            <a:r>
              <a:rPr lang="ru-KG" sz="1600" b="1" cap="none" dirty="0">
                <a:latin typeface="Times New Roman" panose="02020603050405020304" pitchFamily="18" charset="0"/>
                <a:cs typeface="Times New Roman" panose="02020603050405020304" pitchFamily="18" charset="0"/>
              </a:rPr>
              <a:t>Rate confirmation (rate con)</a:t>
            </a:r>
            <a:r>
              <a:rPr lang="ru-KG" sz="1600" cap="none" dirty="0">
                <a:latin typeface="Times New Roman" panose="02020603050405020304" pitchFamily="18" charset="0"/>
                <a:cs typeface="Times New Roman" panose="02020603050405020304" pitchFamily="18" charset="0"/>
              </a:rPr>
              <a:t> — это официальный документ от </a:t>
            </a:r>
            <a:r>
              <a:rPr lang="ru-KG" sz="1600" b="1" cap="none" dirty="0">
                <a:latin typeface="Times New Roman" panose="02020603050405020304" pitchFamily="18" charset="0"/>
                <a:cs typeface="Times New Roman" panose="02020603050405020304" pitchFamily="18" charset="0"/>
              </a:rPr>
              <a:t>брокера</a:t>
            </a:r>
            <a:r>
              <a:rPr lang="ru-KG" sz="1600" cap="none" dirty="0">
                <a:latin typeface="Times New Roman" panose="02020603050405020304" pitchFamily="18" charset="0"/>
                <a:cs typeface="Times New Roman" panose="02020603050405020304" pitchFamily="18" charset="0"/>
              </a:rPr>
              <a:t>, который подтверждает условия перевозки конкретного груза для перевозчика (carrier).</a:t>
            </a:r>
            <a:br>
              <a:rPr lang="ru-KG" sz="1600" cap="none" dirty="0">
                <a:latin typeface="Times New Roman" panose="02020603050405020304" pitchFamily="18" charset="0"/>
                <a:cs typeface="Times New Roman" panose="02020603050405020304" pitchFamily="18" charset="0"/>
              </a:rPr>
            </a:br>
            <a:r>
              <a:rPr lang="ru-RU" sz="1600" cap="none" dirty="0">
                <a:latin typeface="Times New Roman" panose="02020603050405020304" pitchFamily="18" charset="0"/>
                <a:cs typeface="Times New Roman" panose="02020603050405020304" pitchFamily="18" charset="0"/>
              </a:rPr>
              <a:t>Здесь хороший пример </a:t>
            </a:r>
            <a:r>
              <a:rPr lang="en-US" sz="1600" cap="none" dirty="0">
                <a:latin typeface="Times New Roman" panose="02020603050405020304" pitchFamily="18" charset="0"/>
                <a:cs typeface="Times New Roman" panose="02020603050405020304" pitchFamily="18" charset="0"/>
              </a:rPr>
              <a:t>rate confirmation</a:t>
            </a:r>
            <a:r>
              <a:rPr lang="ru-RU" sz="1600" cap="none" dirty="0">
                <a:latin typeface="Times New Roman" panose="02020603050405020304" pitchFamily="18" charset="0"/>
                <a:cs typeface="Times New Roman" panose="02020603050405020304" pitchFamily="18" charset="0"/>
              </a:rPr>
              <a:t>, так как на документе много данных о грузе. Адреса и контакты.</a:t>
            </a:r>
            <a:br>
              <a:rPr lang="en-US" sz="1600" cap="none" dirty="0">
                <a:latin typeface="Times New Roman" panose="02020603050405020304" pitchFamily="18" charset="0"/>
                <a:cs typeface="Times New Roman" panose="02020603050405020304" pitchFamily="18" charset="0"/>
              </a:rPr>
            </a:br>
            <a:r>
              <a:rPr lang="en-US" sz="1600" cap="none" dirty="0">
                <a:latin typeface="Times New Roman" panose="02020603050405020304" pitchFamily="18" charset="0"/>
                <a:cs typeface="Times New Roman" panose="02020603050405020304" pitchFamily="18" charset="0"/>
              </a:rPr>
              <a:t>Rate con</a:t>
            </a:r>
            <a:r>
              <a:rPr lang="ru-RU" sz="1600" cap="none" dirty="0">
                <a:latin typeface="Times New Roman" panose="02020603050405020304" pitchFamily="18" charset="0"/>
                <a:cs typeface="Times New Roman" panose="02020603050405020304" pitchFamily="18" charset="0"/>
              </a:rPr>
              <a:t> в чатах часто закреплен, если у водителя это текущий груз.</a:t>
            </a:r>
            <a:br>
              <a:rPr lang="en-US" sz="1600" cap="none" dirty="0">
                <a:latin typeface="Times New Roman" panose="02020603050405020304" pitchFamily="18" charset="0"/>
                <a:cs typeface="Times New Roman" panose="02020603050405020304" pitchFamily="18" charset="0"/>
              </a:rPr>
            </a:br>
            <a:r>
              <a:rPr lang="ru-RU" sz="1600" cap="none" dirty="0" err="1">
                <a:latin typeface="Times New Roman" panose="02020603050405020304" pitchFamily="18" charset="0"/>
                <a:cs typeface="Times New Roman" panose="02020603050405020304" pitchFamily="18" charset="0"/>
              </a:rPr>
              <a:t>Апдейтор</a:t>
            </a:r>
            <a:r>
              <a:rPr lang="ru-RU" sz="1600" cap="none" dirty="0">
                <a:latin typeface="Times New Roman" panose="02020603050405020304" pitchFamily="18" charset="0"/>
                <a:cs typeface="Times New Roman" panose="02020603050405020304" pitchFamily="18" charset="0"/>
              </a:rPr>
              <a:t> может позвонить по указанному номеру брокера, который указан на </a:t>
            </a:r>
            <a:r>
              <a:rPr lang="en-US" sz="1600" cap="none" dirty="0">
                <a:latin typeface="Times New Roman" panose="02020603050405020304" pitchFamily="18" charset="0"/>
                <a:cs typeface="Times New Roman" panose="02020603050405020304" pitchFamily="18" charset="0"/>
              </a:rPr>
              <a:t>RC. </a:t>
            </a:r>
            <a:r>
              <a:rPr lang="ru-RU" sz="1600" cap="none" dirty="0">
                <a:latin typeface="Times New Roman" panose="02020603050405020304" pitchFamily="18" charset="0"/>
                <a:cs typeface="Times New Roman" panose="02020603050405020304" pitchFamily="18" charset="0"/>
              </a:rPr>
              <a:t>К примера для оплаты </a:t>
            </a:r>
            <a:r>
              <a:rPr lang="en-US" sz="1600" cap="none" dirty="0">
                <a:latin typeface="Times New Roman" panose="02020603050405020304" pitchFamily="18" charset="0"/>
                <a:cs typeface="Times New Roman" panose="02020603050405020304" pitchFamily="18" charset="0"/>
              </a:rPr>
              <a:t>lumper fee, </a:t>
            </a:r>
            <a:r>
              <a:rPr lang="ru-RU" sz="1600" cap="none" dirty="0">
                <a:latin typeface="Times New Roman" panose="02020603050405020304" pitchFamily="18" charset="0"/>
                <a:cs typeface="Times New Roman" panose="02020603050405020304" pitchFamily="18" charset="0"/>
              </a:rPr>
              <a:t>получить</a:t>
            </a:r>
            <a:r>
              <a:rPr lang="en-US" sz="1600" cap="none" dirty="0">
                <a:latin typeface="Times New Roman" panose="02020603050405020304" pitchFamily="18" charset="0"/>
                <a:cs typeface="Times New Roman" panose="02020603050405020304" pitchFamily="18" charset="0"/>
              </a:rPr>
              <a:t> confirmation to GTG</a:t>
            </a:r>
            <a:r>
              <a:rPr lang="ru-RU" sz="1600" cap="none" dirty="0">
                <a:latin typeface="Times New Roman" panose="02020603050405020304" pitchFamily="18" charset="0"/>
                <a:cs typeface="Times New Roman" panose="02020603050405020304" pitchFamily="18" charset="0"/>
              </a:rPr>
              <a:t> </a:t>
            </a:r>
            <a:r>
              <a:rPr lang="en-US" sz="1600" cap="none" dirty="0">
                <a:latin typeface="Times New Roman" panose="02020603050405020304" pitchFamily="18" charset="0"/>
                <a:cs typeface="Times New Roman" panose="02020603050405020304" pitchFamily="18" charset="0"/>
              </a:rPr>
              <a:t>(good to go)</a:t>
            </a:r>
            <a:br>
              <a:rPr lang="en-US" sz="1600" cap="none" dirty="0">
                <a:latin typeface="Times New Roman" panose="02020603050405020304" pitchFamily="18" charset="0"/>
                <a:cs typeface="Times New Roman" panose="02020603050405020304" pitchFamily="18" charset="0"/>
              </a:rPr>
            </a:br>
            <a:br>
              <a:rPr lang="en-US" sz="1600" cap="none" dirty="0">
                <a:latin typeface="Times New Roman" panose="02020603050405020304" pitchFamily="18" charset="0"/>
                <a:cs typeface="Times New Roman" panose="02020603050405020304" pitchFamily="18" charset="0"/>
              </a:rPr>
            </a:br>
            <a:r>
              <a:rPr lang="ru-KG" sz="1600" cap="none" dirty="0">
                <a:latin typeface="Times New Roman" panose="02020603050405020304" pitchFamily="18" charset="0"/>
                <a:cs typeface="Times New Roman" panose="02020603050405020304" pitchFamily="18" charset="0"/>
              </a:rPr>
              <a:t>BOL (bill of lading) — это товарно-транспортная накладная, документ, который сопровождает груз при перевозке.</a:t>
            </a:r>
            <a:br>
              <a:rPr lang="en-US" sz="1600" cap="none" dirty="0">
                <a:latin typeface="Times New Roman" panose="02020603050405020304" pitchFamily="18" charset="0"/>
                <a:cs typeface="Times New Roman" panose="02020603050405020304" pitchFamily="18" charset="0"/>
              </a:rPr>
            </a:br>
            <a:r>
              <a:rPr lang="ru-RU" sz="1600" cap="none" dirty="0">
                <a:latin typeface="Times New Roman" panose="02020603050405020304" pitchFamily="18" charset="0"/>
                <a:cs typeface="Times New Roman" panose="02020603050405020304" pitchFamily="18" charset="0"/>
              </a:rPr>
              <a:t>Данные на </a:t>
            </a:r>
            <a:r>
              <a:rPr lang="en-US" sz="1600" cap="none" dirty="0">
                <a:latin typeface="Times New Roman" panose="02020603050405020304" pitchFamily="18" charset="0"/>
                <a:cs typeface="Times New Roman" panose="02020603050405020304" pitchFamily="18" charset="0"/>
              </a:rPr>
              <a:t>Rate con</a:t>
            </a:r>
            <a:r>
              <a:rPr lang="ru-RU" sz="1600" cap="none" dirty="0">
                <a:latin typeface="Times New Roman" panose="02020603050405020304" pitchFamily="18" charset="0"/>
                <a:cs typeface="Times New Roman" panose="02020603050405020304" pitchFamily="18" charset="0"/>
              </a:rPr>
              <a:t> и </a:t>
            </a:r>
            <a:r>
              <a:rPr lang="en-US" sz="1600" cap="none" dirty="0">
                <a:latin typeface="Times New Roman" panose="02020603050405020304" pitchFamily="18" charset="0"/>
                <a:cs typeface="Times New Roman" panose="02020603050405020304" pitchFamily="18" charset="0"/>
              </a:rPr>
              <a:t>BOL</a:t>
            </a:r>
            <a:r>
              <a:rPr lang="ru-RU" sz="1600" cap="none" dirty="0">
                <a:latin typeface="Times New Roman" panose="02020603050405020304" pitchFamily="18" charset="0"/>
                <a:cs typeface="Times New Roman" panose="02020603050405020304" pitchFamily="18" charset="0"/>
              </a:rPr>
              <a:t> всегда должны совпадать, следовательно </a:t>
            </a:r>
            <a:r>
              <a:rPr lang="ru-RU" sz="1600" cap="none" dirty="0" err="1">
                <a:latin typeface="Times New Roman" panose="02020603050405020304" pitchFamily="18" charset="0"/>
                <a:cs typeface="Times New Roman" panose="02020603050405020304" pitchFamily="18" charset="0"/>
              </a:rPr>
              <a:t>апдейтору</a:t>
            </a:r>
            <a:r>
              <a:rPr lang="ru-RU" sz="1600" cap="none" dirty="0">
                <a:latin typeface="Times New Roman" panose="02020603050405020304" pitchFamily="18" charset="0"/>
                <a:cs typeface="Times New Roman" panose="02020603050405020304" pitchFamily="18" charset="0"/>
              </a:rPr>
              <a:t> нужно сверить данные этих двух документов, когда водитель отправит фотографии с </a:t>
            </a:r>
            <a:r>
              <a:rPr lang="en-US" sz="1600" cap="none" dirty="0">
                <a:latin typeface="Times New Roman" panose="02020603050405020304" pitchFamily="18" charset="0"/>
                <a:cs typeface="Times New Roman" panose="02020603050405020304" pitchFamily="18" charset="0"/>
              </a:rPr>
              <a:t>pick up, </a:t>
            </a:r>
            <a:r>
              <a:rPr lang="ru-RU" sz="1600" cap="none" dirty="0">
                <a:latin typeface="Times New Roman" panose="02020603050405020304" pitchFamily="18" charset="0"/>
                <a:cs typeface="Times New Roman" panose="02020603050405020304" pitchFamily="18" charset="0"/>
              </a:rPr>
              <a:t>на </a:t>
            </a:r>
            <a:r>
              <a:rPr lang="en-US" sz="1600" cap="none" dirty="0">
                <a:latin typeface="Times New Roman" panose="02020603050405020304" pitchFamily="18" charset="0"/>
                <a:cs typeface="Times New Roman" panose="02020603050405020304" pitchFamily="18" charset="0"/>
              </a:rPr>
              <a:t>shipper.</a:t>
            </a:r>
            <a:br>
              <a:rPr lang="en-US" sz="1600" cap="none" dirty="0">
                <a:latin typeface="Times New Roman" panose="02020603050405020304" pitchFamily="18" charset="0"/>
                <a:cs typeface="Times New Roman" panose="02020603050405020304" pitchFamily="18" charset="0"/>
              </a:rPr>
            </a:br>
            <a:r>
              <a:rPr lang="ru-RU" sz="1600" cap="none" dirty="0">
                <a:latin typeface="Times New Roman" panose="02020603050405020304" pitchFamily="18" charset="0"/>
                <a:cs typeface="Times New Roman" panose="02020603050405020304" pitchFamily="18" charset="0"/>
              </a:rPr>
              <a:t>Это адреса доставки, </a:t>
            </a:r>
            <a:r>
              <a:rPr lang="en-US" sz="1600" cap="none" dirty="0">
                <a:latin typeface="Times New Roman" panose="02020603050405020304" pitchFamily="18" charset="0"/>
                <a:cs typeface="Times New Roman" panose="02020603050405020304" pitchFamily="18" charset="0"/>
              </a:rPr>
              <a:t>appointment time, </a:t>
            </a:r>
            <a:r>
              <a:rPr lang="ru-RU" sz="1600" cap="none" dirty="0">
                <a:latin typeface="Times New Roman" panose="02020603050405020304" pitchFamily="18" charset="0"/>
                <a:cs typeface="Times New Roman" panose="02020603050405020304" pitchFamily="18" charset="0"/>
              </a:rPr>
              <a:t>номер груза </a:t>
            </a:r>
            <a:br>
              <a:rPr lang="ru-RU" sz="1600" cap="none" dirty="0">
                <a:latin typeface="Times New Roman" panose="02020603050405020304" pitchFamily="18" charset="0"/>
                <a:cs typeface="Times New Roman" panose="02020603050405020304" pitchFamily="18" charset="0"/>
              </a:rPr>
            </a:br>
            <a:r>
              <a:rPr lang="ru-RU" sz="1600" cap="none" dirty="0">
                <a:latin typeface="Times New Roman" panose="02020603050405020304" pitchFamily="18" charset="0"/>
                <a:cs typeface="Times New Roman" panose="02020603050405020304" pitchFamily="18" charset="0"/>
              </a:rPr>
              <a:t>Обязательно прочтите особые указания, если такие есть</a:t>
            </a:r>
            <a:endParaRPr lang="ru-KG" dirty="0"/>
          </a:p>
        </p:txBody>
      </p:sp>
      <p:pic>
        <p:nvPicPr>
          <p:cNvPr id="5" name="Объект 4">
            <a:extLst>
              <a:ext uri="{FF2B5EF4-FFF2-40B4-BE49-F238E27FC236}">
                <a16:creationId xmlns:a16="http://schemas.microsoft.com/office/drawing/2014/main" id="{5BAECC3B-5538-EC41-DC47-DC4765D73228}"/>
              </a:ext>
            </a:extLst>
          </p:cNvPr>
          <p:cNvPicPr>
            <a:picLocks noGrp="1" noChangeAspect="1"/>
          </p:cNvPicPr>
          <p:nvPr>
            <p:ph sz="quarter" idx="13"/>
          </p:nvPr>
        </p:nvPicPr>
        <p:blipFill>
          <a:blip r:embed="rId2"/>
          <a:stretch>
            <a:fillRect/>
          </a:stretch>
        </p:blipFill>
        <p:spPr>
          <a:xfrm>
            <a:off x="8281861" y="775252"/>
            <a:ext cx="3676092" cy="5764696"/>
          </a:xfrm>
          <a:prstGeom prst="rect">
            <a:avLst/>
          </a:prstGeom>
        </p:spPr>
      </p:pic>
      <p:pic>
        <p:nvPicPr>
          <p:cNvPr id="7" name="Рисунок 6">
            <a:extLst>
              <a:ext uri="{FF2B5EF4-FFF2-40B4-BE49-F238E27FC236}">
                <a16:creationId xmlns:a16="http://schemas.microsoft.com/office/drawing/2014/main" id="{16230500-F37E-9F5C-6CFB-5D03EEBDC5C7}"/>
              </a:ext>
            </a:extLst>
          </p:cNvPr>
          <p:cNvPicPr>
            <a:picLocks noChangeAspect="1"/>
          </p:cNvPicPr>
          <p:nvPr/>
        </p:nvPicPr>
        <p:blipFill>
          <a:blip r:embed="rId3"/>
          <a:stretch>
            <a:fillRect/>
          </a:stretch>
        </p:blipFill>
        <p:spPr>
          <a:xfrm>
            <a:off x="4517798" y="775252"/>
            <a:ext cx="3520415" cy="5764696"/>
          </a:xfrm>
          <a:prstGeom prst="rect">
            <a:avLst/>
          </a:prstGeom>
        </p:spPr>
      </p:pic>
    </p:spTree>
    <p:extLst>
      <p:ext uri="{BB962C8B-B14F-4D97-AF65-F5344CB8AC3E}">
        <p14:creationId xmlns:p14="http://schemas.microsoft.com/office/powerpoint/2010/main" val="2134662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F4D8B-E2AA-0FCF-D9A2-326D8B8FBC15}"/>
              </a:ext>
            </a:extLst>
          </p:cNvPr>
          <p:cNvSpPr>
            <a:spLocks noGrp="1"/>
          </p:cNvSpPr>
          <p:nvPr>
            <p:ph type="title"/>
          </p:nvPr>
        </p:nvSpPr>
        <p:spPr>
          <a:xfrm>
            <a:off x="533399" y="722486"/>
            <a:ext cx="4937503" cy="5661279"/>
          </a:xfrm>
        </p:spPr>
        <p:txBody>
          <a:bodyPr>
            <a:normAutofit/>
          </a:bodyPr>
          <a:lstStyle/>
          <a:p>
            <a:r>
              <a:rPr lang="ru-KG" sz="1600" cap="none" dirty="0">
                <a:latin typeface="Times New Roman" panose="02020603050405020304" pitchFamily="18" charset="0"/>
                <a:cs typeface="Times New Roman" panose="02020603050405020304" pitchFamily="18" charset="0"/>
              </a:rPr>
              <a:t>В телеграм чатах у каждого водителя есть своя группа с его именем и номером трака. </a:t>
            </a:r>
            <a:r>
              <a:rPr lang="ru-RU" sz="1600" cap="none" dirty="0">
                <a:latin typeface="Times New Roman" panose="02020603050405020304" pitchFamily="18" charset="0"/>
                <a:cs typeface="Times New Roman" panose="02020603050405020304" pitchFamily="18" charset="0"/>
              </a:rPr>
              <a:t>Г</a:t>
            </a:r>
            <a:r>
              <a:rPr lang="ru-KG" sz="1600" cap="none" dirty="0">
                <a:latin typeface="Times New Roman" panose="02020603050405020304" pitchFamily="18" charset="0"/>
                <a:cs typeface="Times New Roman" panose="02020603050405020304" pitchFamily="18" charset="0"/>
              </a:rPr>
              <a:t>де есть его номер телефона и почта </a:t>
            </a:r>
            <a:br>
              <a:rPr lang="ru-KG" sz="1600" cap="none" dirty="0">
                <a:latin typeface="Times New Roman" panose="02020603050405020304" pitchFamily="18" charset="0"/>
                <a:cs typeface="Times New Roman" panose="02020603050405020304" pitchFamily="18" charset="0"/>
              </a:rPr>
            </a:br>
            <a:br>
              <a:rPr lang="ru-KG" sz="1600" cap="none" dirty="0">
                <a:latin typeface="Times New Roman" panose="02020603050405020304" pitchFamily="18" charset="0"/>
                <a:cs typeface="Times New Roman" panose="02020603050405020304" pitchFamily="18" charset="0"/>
              </a:rPr>
            </a:br>
            <a:r>
              <a:rPr lang="ru-KG" sz="1600" cap="none" dirty="0">
                <a:latin typeface="Times New Roman" panose="02020603050405020304" pitchFamily="18" charset="0"/>
                <a:cs typeface="Times New Roman" panose="02020603050405020304" pitchFamily="18" charset="0"/>
              </a:rPr>
              <a:t>В этом примере показано как обычно апдейтится </a:t>
            </a:r>
            <a:r>
              <a:rPr lang="en-US" sz="1600" cap="none" dirty="0">
                <a:latin typeface="Times New Roman" panose="02020603050405020304" pitchFamily="18" charset="0"/>
                <a:cs typeface="Times New Roman" panose="02020603050405020304" pitchFamily="18" charset="0"/>
              </a:rPr>
              <a:t>pick up</a:t>
            </a:r>
            <a:br>
              <a:rPr lang="en-US" sz="1600" cap="none" dirty="0">
                <a:latin typeface="Times New Roman" panose="02020603050405020304" pitchFamily="18" charset="0"/>
                <a:cs typeface="Times New Roman" panose="02020603050405020304" pitchFamily="18" charset="0"/>
              </a:rPr>
            </a:br>
            <a:r>
              <a:rPr lang="ru-RU" sz="1600" cap="none" dirty="0">
                <a:latin typeface="Times New Roman" panose="02020603050405020304" pitchFamily="18" charset="0"/>
                <a:cs typeface="Times New Roman" panose="02020603050405020304" pitchFamily="18" charset="0"/>
              </a:rPr>
              <a:t>водитель выслал фотографии груженного трейлера</a:t>
            </a:r>
            <a:r>
              <a:rPr lang="en-US" sz="1600" cap="none" dirty="0">
                <a:latin typeface="Times New Roman" panose="02020603050405020304" pitchFamily="18" charset="0"/>
                <a:cs typeface="Times New Roman" panose="02020603050405020304" pitchFamily="18" charset="0"/>
              </a:rPr>
              <a:t>, </a:t>
            </a:r>
            <a:r>
              <a:rPr lang="ru-RU" sz="1600" cap="none" dirty="0">
                <a:latin typeface="Times New Roman" panose="02020603050405020304" pitchFamily="18" charset="0"/>
                <a:cs typeface="Times New Roman" panose="02020603050405020304" pitchFamily="18" charset="0"/>
              </a:rPr>
              <a:t>закрепленный груз, </a:t>
            </a:r>
            <a:r>
              <a:rPr lang="en-US" sz="1600" cap="none" dirty="0">
                <a:latin typeface="Times New Roman" panose="02020603050405020304" pitchFamily="18" charset="0"/>
                <a:cs typeface="Times New Roman" panose="02020603050405020304" pitchFamily="18" charset="0"/>
              </a:rPr>
              <a:t>lock/seal </a:t>
            </a:r>
            <a:r>
              <a:rPr lang="ru-RU" sz="1600" cap="none" dirty="0">
                <a:latin typeface="Times New Roman" panose="02020603050405020304" pitchFamily="18" charset="0"/>
                <a:cs typeface="Times New Roman" panose="02020603050405020304" pitchFamily="18" charset="0"/>
              </a:rPr>
              <a:t>и </a:t>
            </a:r>
            <a:r>
              <a:rPr lang="en-US" sz="1600" cap="none" dirty="0">
                <a:latin typeface="Times New Roman" panose="02020603050405020304" pitchFamily="18" charset="0"/>
                <a:cs typeface="Times New Roman" panose="02020603050405020304" pitchFamily="18" charset="0"/>
              </a:rPr>
              <a:t>BOL. </a:t>
            </a:r>
            <a:r>
              <a:rPr lang="ru-RU" sz="1600" cap="none" dirty="0" err="1">
                <a:latin typeface="Times New Roman" panose="02020603050405020304" pitchFamily="18" charset="0"/>
                <a:cs typeface="Times New Roman" panose="02020603050405020304" pitchFamily="18" charset="0"/>
              </a:rPr>
              <a:t>Апдейтор</a:t>
            </a:r>
            <a:r>
              <a:rPr lang="ru-RU" sz="1600" cap="none" dirty="0">
                <a:latin typeface="Times New Roman" panose="02020603050405020304" pitchFamily="18" charset="0"/>
                <a:cs typeface="Times New Roman" panose="02020603050405020304" pitchFamily="18" charset="0"/>
              </a:rPr>
              <a:t> отправляет их брокеру, тот проверяет и подтверждает, после может будет написать водителю в </a:t>
            </a:r>
            <a:r>
              <a:rPr lang="ru-RU" sz="1600" dirty="0">
                <a:latin typeface="Times New Roman" panose="02020603050405020304" pitchFamily="18" charset="0"/>
                <a:cs typeface="Times New Roman" panose="02020603050405020304" pitchFamily="18" charset="0"/>
              </a:rPr>
              <a:t>группу </a:t>
            </a:r>
            <a:r>
              <a:rPr lang="en-US" sz="1600" dirty="0">
                <a:latin typeface="Times New Roman" panose="02020603050405020304" pitchFamily="18" charset="0"/>
                <a:cs typeface="Times New Roman" panose="02020603050405020304" pitchFamily="18" charset="0"/>
              </a:rPr>
              <a:t>GTG</a:t>
            </a:r>
            <a:br>
              <a:rPr lang="en-US" sz="1600" dirty="0">
                <a:latin typeface="Times New Roman" panose="02020603050405020304" pitchFamily="18" charset="0"/>
                <a:cs typeface="Times New Roman" panose="02020603050405020304" pitchFamily="18" charset="0"/>
              </a:rPr>
            </a:br>
            <a:r>
              <a:rPr lang="ru-RU" sz="1600" dirty="0">
                <a:latin typeface="Times New Roman" panose="02020603050405020304" pitchFamily="18" charset="0"/>
                <a:cs typeface="Times New Roman" panose="02020603050405020304" pitchFamily="18" charset="0"/>
              </a:rPr>
              <a:t> </a:t>
            </a:r>
            <a:r>
              <a:rPr lang="ru-RU" sz="1600" cap="none" dirty="0">
                <a:latin typeface="Times New Roman" panose="02020603050405020304" pitchFamily="18" charset="0"/>
                <a:cs typeface="Times New Roman" panose="02020603050405020304" pitchFamily="18" charset="0"/>
              </a:rPr>
              <a:t>И пример с погодными условиями:</a:t>
            </a:r>
            <a:br>
              <a:rPr lang="en-US" sz="1600" dirty="0">
                <a:latin typeface="Times New Roman" panose="02020603050405020304" pitchFamily="18" charset="0"/>
                <a:cs typeface="Times New Roman" panose="02020603050405020304" pitchFamily="18" charset="0"/>
              </a:rPr>
            </a:br>
            <a:r>
              <a:rPr lang="ru-RU" sz="1600" dirty="0">
                <a:latin typeface="Times New Roman" panose="02020603050405020304" pitchFamily="18" charset="0"/>
                <a:cs typeface="Times New Roman" panose="02020603050405020304" pitchFamily="18" charset="0"/>
              </a:rPr>
              <a:t> </a:t>
            </a:r>
            <a:endParaRPr lang="ru-KG" sz="1600" dirty="0">
              <a:latin typeface="Times New Roman" panose="02020603050405020304" pitchFamily="18" charset="0"/>
              <a:cs typeface="Times New Roman" panose="02020603050405020304" pitchFamily="18" charset="0"/>
            </a:endParaRPr>
          </a:p>
        </p:txBody>
      </p:sp>
      <p:pic>
        <p:nvPicPr>
          <p:cNvPr id="9" name="Объект 8">
            <a:extLst>
              <a:ext uri="{FF2B5EF4-FFF2-40B4-BE49-F238E27FC236}">
                <a16:creationId xmlns:a16="http://schemas.microsoft.com/office/drawing/2014/main" id="{6EE6BE80-CBE9-93BA-676E-524481CDB162}"/>
              </a:ext>
            </a:extLst>
          </p:cNvPr>
          <p:cNvPicPr>
            <a:picLocks noGrp="1" noChangeAspect="1"/>
          </p:cNvPicPr>
          <p:nvPr>
            <p:ph sz="quarter" idx="13"/>
          </p:nvPr>
        </p:nvPicPr>
        <p:blipFill>
          <a:blip r:embed="rId2"/>
          <a:stretch>
            <a:fillRect/>
          </a:stretch>
        </p:blipFill>
        <p:spPr>
          <a:xfrm>
            <a:off x="5645257" y="722486"/>
            <a:ext cx="3006672" cy="5711637"/>
          </a:xfrm>
          <a:prstGeom prst="rect">
            <a:avLst/>
          </a:prstGeom>
        </p:spPr>
      </p:pic>
      <p:pic>
        <p:nvPicPr>
          <p:cNvPr id="11" name="Рисунок 10">
            <a:extLst>
              <a:ext uri="{FF2B5EF4-FFF2-40B4-BE49-F238E27FC236}">
                <a16:creationId xmlns:a16="http://schemas.microsoft.com/office/drawing/2014/main" id="{0BD863B8-CECB-4F91-4BC4-5FEB870101D2}"/>
              </a:ext>
            </a:extLst>
          </p:cNvPr>
          <p:cNvPicPr>
            <a:picLocks noChangeAspect="1"/>
          </p:cNvPicPr>
          <p:nvPr/>
        </p:nvPicPr>
        <p:blipFill>
          <a:blip r:embed="rId3"/>
          <a:stretch>
            <a:fillRect/>
          </a:stretch>
        </p:blipFill>
        <p:spPr>
          <a:xfrm>
            <a:off x="8651929" y="722486"/>
            <a:ext cx="3006672" cy="5661279"/>
          </a:xfrm>
          <a:prstGeom prst="rect">
            <a:avLst/>
          </a:prstGeom>
        </p:spPr>
      </p:pic>
      <p:pic>
        <p:nvPicPr>
          <p:cNvPr id="14" name="Рисунок 13">
            <a:extLst>
              <a:ext uri="{FF2B5EF4-FFF2-40B4-BE49-F238E27FC236}">
                <a16:creationId xmlns:a16="http://schemas.microsoft.com/office/drawing/2014/main" id="{DEA104D4-EFAC-E1B6-DC33-B1655AF948A0}"/>
              </a:ext>
            </a:extLst>
          </p:cNvPr>
          <p:cNvPicPr>
            <a:picLocks noChangeAspect="1"/>
          </p:cNvPicPr>
          <p:nvPr/>
        </p:nvPicPr>
        <p:blipFill>
          <a:blip r:embed="rId4"/>
          <a:srcRect t="23045"/>
          <a:stretch>
            <a:fillRect/>
          </a:stretch>
        </p:blipFill>
        <p:spPr>
          <a:xfrm>
            <a:off x="533399" y="3243020"/>
            <a:ext cx="2225754" cy="3191103"/>
          </a:xfrm>
          <a:prstGeom prst="rect">
            <a:avLst/>
          </a:prstGeom>
        </p:spPr>
      </p:pic>
      <p:pic>
        <p:nvPicPr>
          <p:cNvPr id="16" name="Рисунок 15">
            <a:extLst>
              <a:ext uri="{FF2B5EF4-FFF2-40B4-BE49-F238E27FC236}">
                <a16:creationId xmlns:a16="http://schemas.microsoft.com/office/drawing/2014/main" id="{D7F2ADD3-05E4-698C-25FD-FF5B01350DB4}"/>
              </a:ext>
            </a:extLst>
          </p:cNvPr>
          <p:cNvPicPr>
            <a:picLocks noChangeAspect="1"/>
          </p:cNvPicPr>
          <p:nvPr/>
        </p:nvPicPr>
        <p:blipFill>
          <a:blip r:embed="rId5"/>
          <a:srcRect t="18531" b="10535"/>
          <a:stretch>
            <a:fillRect/>
          </a:stretch>
        </p:blipFill>
        <p:spPr>
          <a:xfrm>
            <a:off x="2843169" y="3243021"/>
            <a:ext cx="2705766" cy="3224816"/>
          </a:xfrm>
          <a:prstGeom prst="rect">
            <a:avLst/>
          </a:prstGeom>
        </p:spPr>
      </p:pic>
      <mc:AlternateContent xmlns:mc="http://schemas.openxmlformats.org/markup-compatibility/2006" xmlns:p14="http://schemas.microsoft.com/office/powerpoint/2010/main">
        <mc:Choice Requires="p14">
          <p:contentPart p14:bwMode="auto" r:id="rId6">
            <p14:nvContentPartPr>
              <p14:cNvPr id="20" name="Рукописный ввод 19">
                <a:extLst>
                  <a:ext uri="{FF2B5EF4-FFF2-40B4-BE49-F238E27FC236}">
                    <a16:creationId xmlns:a16="http://schemas.microsoft.com/office/drawing/2014/main" id="{5CA06C60-172A-7082-ABF4-E2F872C5C5A8}"/>
                  </a:ext>
                </a:extLst>
              </p14:cNvPr>
              <p14:cNvContentPartPr/>
              <p14:nvPr/>
            </p14:nvContentPartPr>
            <p14:xfrm>
              <a:off x="6274757" y="1393981"/>
              <a:ext cx="374760" cy="32040"/>
            </p14:xfrm>
          </p:contentPart>
        </mc:Choice>
        <mc:Fallback xmlns="">
          <p:pic>
            <p:nvPicPr>
              <p:cNvPr id="20" name="Рукописный ввод 19">
                <a:extLst>
                  <a:ext uri="{FF2B5EF4-FFF2-40B4-BE49-F238E27FC236}">
                    <a16:creationId xmlns:a16="http://schemas.microsoft.com/office/drawing/2014/main" id="{5CA06C60-172A-7082-ABF4-E2F872C5C5A8}"/>
                  </a:ext>
                </a:extLst>
              </p:cNvPr>
              <p:cNvPicPr/>
              <p:nvPr/>
            </p:nvPicPr>
            <p:blipFill>
              <a:blip r:embed="rId7"/>
              <a:stretch>
                <a:fillRect/>
              </a:stretch>
            </p:blipFill>
            <p:spPr>
              <a:xfrm>
                <a:off x="6268637" y="1387861"/>
                <a:ext cx="38700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Рукописный ввод 20">
                <a:extLst>
                  <a:ext uri="{FF2B5EF4-FFF2-40B4-BE49-F238E27FC236}">
                    <a16:creationId xmlns:a16="http://schemas.microsoft.com/office/drawing/2014/main" id="{16B0065D-9827-F56F-C252-C7B559B03B7F}"/>
                  </a:ext>
                </a:extLst>
              </p14:cNvPr>
              <p14:cNvContentPartPr/>
              <p14:nvPr/>
            </p14:nvContentPartPr>
            <p14:xfrm>
              <a:off x="6280877" y="1363021"/>
              <a:ext cx="357480" cy="60840"/>
            </p14:xfrm>
          </p:contentPart>
        </mc:Choice>
        <mc:Fallback xmlns="">
          <p:pic>
            <p:nvPicPr>
              <p:cNvPr id="21" name="Рукописный ввод 20">
                <a:extLst>
                  <a:ext uri="{FF2B5EF4-FFF2-40B4-BE49-F238E27FC236}">
                    <a16:creationId xmlns:a16="http://schemas.microsoft.com/office/drawing/2014/main" id="{16B0065D-9827-F56F-C252-C7B559B03B7F}"/>
                  </a:ext>
                </a:extLst>
              </p:cNvPr>
              <p:cNvPicPr/>
              <p:nvPr/>
            </p:nvPicPr>
            <p:blipFill>
              <a:blip r:embed="rId9"/>
              <a:stretch>
                <a:fillRect/>
              </a:stretch>
            </p:blipFill>
            <p:spPr>
              <a:xfrm>
                <a:off x="6263237" y="1327021"/>
                <a:ext cx="39312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Рукописный ввод 21">
                <a:extLst>
                  <a:ext uri="{FF2B5EF4-FFF2-40B4-BE49-F238E27FC236}">
                    <a16:creationId xmlns:a16="http://schemas.microsoft.com/office/drawing/2014/main" id="{E3E6C632-B177-6BF6-2B4B-F2B30A5826C1}"/>
                  </a:ext>
                </a:extLst>
              </p14:cNvPr>
              <p14:cNvContentPartPr/>
              <p14:nvPr/>
            </p14:nvContentPartPr>
            <p14:xfrm>
              <a:off x="6284477" y="1396141"/>
              <a:ext cx="362520" cy="34920"/>
            </p14:xfrm>
          </p:contentPart>
        </mc:Choice>
        <mc:Fallback xmlns="">
          <p:pic>
            <p:nvPicPr>
              <p:cNvPr id="22" name="Рукописный ввод 21">
                <a:extLst>
                  <a:ext uri="{FF2B5EF4-FFF2-40B4-BE49-F238E27FC236}">
                    <a16:creationId xmlns:a16="http://schemas.microsoft.com/office/drawing/2014/main" id="{E3E6C632-B177-6BF6-2B4B-F2B30A5826C1}"/>
                  </a:ext>
                </a:extLst>
              </p:cNvPr>
              <p:cNvPicPr/>
              <p:nvPr/>
            </p:nvPicPr>
            <p:blipFill>
              <a:blip r:embed="rId11"/>
              <a:stretch>
                <a:fillRect/>
              </a:stretch>
            </p:blipFill>
            <p:spPr>
              <a:xfrm>
                <a:off x="6266837" y="1360501"/>
                <a:ext cx="39816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Рукописный ввод 22">
                <a:extLst>
                  <a:ext uri="{FF2B5EF4-FFF2-40B4-BE49-F238E27FC236}">
                    <a16:creationId xmlns:a16="http://schemas.microsoft.com/office/drawing/2014/main" id="{C0843D53-FCB6-B554-9509-0A1E477A65C7}"/>
                  </a:ext>
                </a:extLst>
              </p14:cNvPr>
              <p14:cNvContentPartPr/>
              <p14:nvPr/>
            </p14:nvContentPartPr>
            <p14:xfrm>
              <a:off x="6286277" y="1370221"/>
              <a:ext cx="374760" cy="28800"/>
            </p14:xfrm>
          </p:contentPart>
        </mc:Choice>
        <mc:Fallback xmlns="">
          <p:pic>
            <p:nvPicPr>
              <p:cNvPr id="23" name="Рукописный ввод 22">
                <a:extLst>
                  <a:ext uri="{FF2B5EF4-FFF2-40B4-BE49-F238E27FC236}">
                    <a16:creationId xmlns:a16="http://schemas.microsoft.com/office/drawing/2014/main" id="{C0843D53-FCB6-B554-9509-0A1E477A65C7}"/>
                  </a:ext>
                </a:extLst>
              </p:cNvPr>
              <p:cNvPicPr/>
              <p:nvPr/>
            </p:nvPicPr>
            <p:blipFill>
              <a:blip r:embed="rId13"/>
              <a:stretch>
                <a:fillRect/>
              </a:stretch>
            </p:blipFill>
            <p:spPr>
              <a:xfrm>
                <a:off x="6268277" y="1334581"/>
                <a:ext cx="4104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Рукописный ввод 23">
                <a:extLst>
                  <a:ext uri="{FF2B5EF4-FFF2-40B4-BE49-F238E27FC236}">
                    <a16:creationId xmlns:a16="http://schemas.microsoft.com/office/drawing/2014/main" id="{03205A8A-248D-7A76-8A28-B76A7F603B14}"/>
                  </a:ext>
                </a:extLst>
              </p14:cNvPr>
              <p14:cNvContentPartPr/>
              <p14:nvPr/>
            </p14:nvContentPartPr>
            <p14:xfrm>
              <a:off x="6279437" y="1392541"/>
              <a:ext cx="312840" cy="39960"/>
            </p14:xfrm>
          </p:contentPart>
        </mc:Choice>
        <mc:Fallback xmlns="">
          <p:pic>
            <p:nvPicPr>
              <p:cNvPr id="24" name="Рукописный ввод 23">
                <a:extLst>
                  <a:ext uri="{FF2B5EF4-FFF2-40B4-BE49-F238E27FC236}">
                    <a16:creationId xmlns:a16="http://schemas.microsoft.com/office/drawing/2014/main" id="{03205A8A-248D-7A76-8A28-B76A7F603B14}"/>
                  </a:ext>
                </a:extLst>
              </p:cNvPr>
              <p:cNvPicPr/>
              <p:nvPr/>
            </p:nvPicPr>
            <p:blipFill>
              <a:blip r:embed="rId15"/>
              <a:stretch>
                <a:fillRect/>
              </a:stretch>
            </p:blipFill>
            <p:spPr>
              <a:xfrm>
                <a:off x="6261797" y="1356901"/>
                <a:ext cx="34848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Рукописный ввод 24">
                <a:extLst>
                  <a:ext uri="{FF2B5EF4-FFF2-40B4-BE49-F238E27FC236}">
                    <a16:creationId xmlns:a16="http://schemas.microsoft.com/office/drawing/2014/main" id="{59140D20-5F58-4030-7607-9C5740FE1CE9}"/>
                  </a:ext>
                </a:extLst>
              </p14:cNvPr>
              <p14:cNvContentPartPr/>
              <p14:nvPr/>
            </p14:nvContentPartPr>
            <p14:xfrm>
              <a:off x="6265037" y="1385701"/>
              <a:ext cx="330480" cy="19080"/>
            </p14:xfrm>
          </p:contentPart>
        </mc:Choice>
        <mc:Fallback xmlns="">
          <p:pic>
            <p:nvPicPr>
              <p:cNvPr id="25" name="Рукописный ввод 24">
                <a:extLst>
                  <a:ext uri="{FF2B5EF4-FFF2-40B4-BE49-F238E27FC236}">
                    <a16:creationId xmlns:a16="http://schemas.microsoft.com/office/drawing/2014/main" id="{59140D20-5F58-4030-7607-9C5740FE1CE9}"/>
                  </a:ext>
                </a:extLst>
              </p:cNvPr>
              <p:cNvPicPr/>
              <p:nvPr/>
            </p:nvPicPr>
            <p:blipFill>
              <a:blip r:embed="rId17"/>
              <a:stretch>
                <a:fillRect/>
              </a:stretch>
            </p:blipFill>
            <p:spPr>
              <a:xfrm>
                <a:off x="6247037" y="1350061"/>
                <a:ext cx="36612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6" name="Рукописный ввод 25">
                <a:extLst>
                  <a:ext uri="{FF2B5EF4-FFF2-40B4-BE49-F238E27FC236}">
                    <a16:creationId xmlns:a16="http://schemas.microsoft.com/office/drawing/2014/main" id="{8DCE87EC-B901-C4FE-B815-4C4F24C8842F}"/>
                  </a:ext>
                </a:extLst>
              </p14:cNvPr>
              <p14:cNvContentPartPr/>
              <p14:nvPr/>
            </p14:nvContentPartPr>
            <p14:xfrm>
              <a:off x="6292037" y="1390021"/>
              <a:ext cx="369000" cy="23760"/>
            </p14:xfrm>
          </p:contentPart>
        </mc:Choice>
        <mc:Fallback xmlns="">
          <p:pic>
            <p:nvPicPr>
              <p:cNvPr id="26" name="Рукописный ввод 25">
                <a:extLst>
                  <a:ext uri="{FF2B5EF4-FFF2-40B4-BE49-F238E27FC236}">
                    <a16:creationId xmlns:a16="http://schemas.microsoft.com/office/drawing/2014/main" id="{8DCE87EC-B901-C4FE-B815-4C4F24C8842F}"/>
                  </a:ext>
                </a:extLst>
              </p:cNvPr>
              <p:cNvPicPr/>
              <p:nvPr/>
            </p:nvPicPr>
            <p:blipFill>
              <a:blip r:embed="rId19"/>
              <a:stretch>
                <a:fillRect/>
              </a:stretch>
            </p:blipFill>
            <p:spPr>
              <a:xfrm>
                <a:off x="6274037" y="1354381"/>
                <a:ext cx="40464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8" name="Рукописный ввод 27">
                <a:extLst>
                  <a:ext uri="{FF2B5EF4-FFF2-40B4-BE49-F238E27FC236}">
                    <a16:creationId xmlns:a16="http://schemas.microsoft.com/office/drawing/2014/main" id="{BC5F4055-64EF-3C49-98F5-3F2630FE8AE3}"/>
                  </a:ext>
                </a:extLst>
              </p14:cNvPr>
              <p14:cNvContentPartPr/>
              <p14:nvPr/>
            </p14:nvContentPartPr>
            <p14:xfrm>
              <a:off x="6313704" y="1379674"/>
              <a:ext cx="176040" cy="15840"/>
            </p14:xfrm>
          </p:contentPart>
        </mc:Choice>
        <mc:Fallback xmlns="">
          <p:pic>
            <p:nvPicPr>
              <p:cNvPr id="28" name="Рукописный ввод 27">
                <a:extLst>
                  <a:ext uri="{FF2B5EF4-FFF2-40B4-BE49-F238E27FC236}">
                    <a16:creationId xmlns:a16="http://schemas.microsoft.com/office/drawing/2014/main" id="{BC5F4055-64EF-3C49-98F5-3F2630FE8AE3}"/>
                  </a:ext>
                </a:extLst>
              </p:cNvPr>
              <p:cNvPicPr/>
              <p:nvPr/>
            </p:nvPicPr>
            <p:blipFill>
              <a:blip r:embed="rId21"/>
              <a:stretch>
                <a:fillRect/>
              </a:stretch>
            </p:blipFill>
            <p:spPr>
              <a:xfrm>
                <a:off x="6296064" y="1343674"/>
                <a:ext cx="2116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9" name="Рукописный ввод 28">
                <a:extLst>
                  <a:ext uri="{FF2B5EF4-FFF2-40B4-BE49-F238E27FC236}">
                    <a16:creationId xmlns:a16="http://schemas.microsoft.com/office/drawing/2014/main" id="{A7195ED3-5ED6-02CA-BAB5-68E79023C895}"/>
                  </a:ext>
                </a:extLst>
              </p14:cNvPr>
              <p14:cNvContentPartPr/>
              <p14:nvPr/>
            </p14:nvContentPartPr>
            <p14:xfrm>
              <a:off x="6327024" y="1382194"/>
              <a:ext cx="208080" cy="17640"/>
            </p14:xfrm>
          </p:contentPart>
        </mc:Choice>
        <mc:Fallback xmlns="">
          <p:pic>
            <p:nvPicPr>
              <p:cNvPr id="29" name="Рукописный ввод 28">
                <a:extLst>
                  <a:ext uri="{FF2B5EF4-FFF2-40B4-BE49-F238E27FC236}">
                    <a16:creationId xmlns:a16="http://schemas.microsoft.com/office/drawing/2014/main" id="{A7195ED3-5ED6-02CA-BAB5-68E79023C895}"/>
                  </a:ext>
                </a:extLst>
              </p:cNvPr>
              <p:cNvPicPr/>
              <p:nvPr/>
            </p:nvPicPr>
            <p:blipFill>
              <a:blip r:embed="rId23"/>
              <a:stretch>
                <a:fillRect/>
              </a:stretch>
            </p:blipFill>
            <p:spPr>
              <a:xfrm>
                <a:off x="6309384" y="1346554"/>
                <a:ext cx="24372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0" name="Рукописный ввод 29">
                <a:extLst>
                  <a:ext uri="{FF2B5EF4-FFF2-40B4-BE49-F238E27FC236}">
                    <a16:creationId xmlns:a16="http://schemas.microsoft.com/office/drawing/2014/main" id="{3C177828-FABA-97AD-B2EA-6CE7C7F4AB19}"/>
                  </a:ext>
                </a:extLst>
              </p14:cNvPr>
              <p14:cNvContentPartPr/>
              <p14:nvPr/>
            </p14:nvContentPartPr>
            <p14:xfrm>
              <a:off x="6448704" y="1403794"/>
              <a:ext cx="91080" cy="15480"/>
            </p14:xfrm>
          </p:contentPart>
        </mc:Choice>
        <mc:Fallback xmlns="">
          <p:pic>
            <p:nvPicPr>
              <p:cNvPr id="30" name="Рукописный ввод 29">
                <a:extLst>
                  <a:ext uri="{FF2B5EF4-FFF2-40B4-BE49-F238E27FC236}">
                    <a16:creationId xmlns:a16="http://schemas.microsoft.com/office/drawing/2014/main" id="{3C177828-FABA-97AD-B2EA-6CE7C7F4AB19}"/>
                  </a:ext>
                </a:extLst>
              </p:cNvPr>
              <p:cNvPicPr/>
              <p:nvPr/>
            </p:nvPicPr>
            <p:blipFill>
              <a:blip r:embed="rId25"/>
              <a:stretch>
                <a:fillRect/>
              </a:stretch>
            </p:blipFill>
            <p:spPr>
              <a:xfrm>
                <a:off x="6430704" y="1367794"/>
                <a:ext cx="126720" cy="87120"/>
              </a:xfrm>
              <a:prstGeom prst="rect">
                <a:avLst/>
              </a:prstGeom>
            </p:spPr>
          </p:pic>
        </mc:Fallback>
      </mc:AlternateContent>
    </p:spTree>
    <p:extLst>
      <p:ext uri="{BB962C8B-B14F-4D97-AF65-F5344CB8AC3E}">
        <p14:creationId xmlns:p14="http://schemas.microsoft.com/office/powerpoint/2010/main" val="626364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D92C6C-3672-FCEC-E747-845E82291F23}"/>
              </a:ext>
            </a:extLst>
          </p:cNvPr>
          <p:cNvSpPr>
            <a:spLocks noGrp="1"/>
          </p:cNvSpPr>
          <p:nvPr>
            <p:ph type="title"/>
          </p:nvPr>
        </p:nvSpPr>
        <p:spPr>
          <a:xfrm>
            <a:off x="461347" y="1016955"/>
            <a:ext cx="3491539" cy="4083580"/>
          </a:xfrm>
        </p:spPr>
        <p:txBody>
          <a:bodyPr>
            <a:normAutofit fontScale="90000"/>
          </a:bodyPr>
          <a:lstStyle/>
          <a:p>
            <a:br>
              <a:rPr lang="ru-KG" sz="1600" dirty="0">
                <a:latin typeface="Times New Roman" panose="02020603050405020304" pitchFamily="18" charset="0"/>
                <a:cs typeface="Times New Roman" panose="02020603050405020304" pitchFamily="18" charset="0"/>
              </a:rPr>
            </a:br>
            <a:r>
              <a:rPr lang="en" sz="1800" cap="none" dirty="0">
                <a:latin typeface="Times New Roman" panose="02020603050405020304" pitchFamily="18" charset="0"/>
                <a:cs typeface="Times New Roman" panose="02020603050405020304" pitchFamily="18" charset="0"/>
              </a:rPr>
              <a:t>T</a:t>
            </a:r>
            <a:r>
              <a:rPr lang="ru-KG" sz="1800" cap="none" dirty="0">
                <a:latin typeface="Times New Roman" panose="02020603050405020304" pitchFamily="18" charset="0"/>
                <a:cs typeface="Times New Roman" panose="02020603050405020304" pitchFamily="18" charset="0"/>
              </a:rPr>
              <a:t>racking-приложения</a:t>
            </a:r>
            <a:br>
              <a:rPr lang="ru-KG" sz="1800" cap="none" dirty="0">
                <a:latin typeface="Times New Roman" panose="02020603050405020304" pitchFamily="18" charset="0"/>
                <a:cs typeface="Times New Roman" panose="02020603050405020304" pitchFamily="18" charset="0"/>
              </a:rPr>
            </a:br>
            <a:r>
              <a:rPr lang="ru-KG" sz="1800" cap="none" dirty="0">
                <a:latin typeface="Times New Roman" panose="02020603050405020304" pitchFamily="18" charset="0"/>
                <a:cs typeface="Times New Roman" panose="02020603050405020304" pitchFamily="18" charset="0"/>
              </a:rPr>
              <a:t>fourkites, </a:t>
            </a:r>
            <a:r>
              <a:rPr lang="en-US" sz="1800" cap="none" dirty="0">
                <a:latin typeface="Times New Roman" panose="02020603050405020304" pitchFamily="18" charset="0"/>
                <a:cs typeface="Times New Roman" panose="02020603050405020304" pitchFamily="18" charset="0"/>
              </a:rPr>
              <a:t>samsara, swift eld, </a:t>
            </a:r>
            <a:r>
              <a:rPr lang="ru-KG" sz="1800" cap="none" dirty="0">
                <a:latin typeface="Times New Roman" panose="02020603050405020304" pitchFamily="18" charset="0"/>
                <a:cs typeface="Times New Roman" panose="02020603050405020304" pitchFamily="18" charset="0"/>
              </a:rPr>
              <a:t>macropoint</a:t>
            </a:r>
            <a:r>
              <a:rPr lang="en-US" sz="1800" cap="none" dirty="0">
                <a:latin typeface="Times New Roman" panose="02020603050405020304" pitchFamily="18" charset="0"/>
                <a:cs typeface="Times New Roman" panose="02020603050405020304" pitchFamily="18" charset="0"/>
              </a:rPr>
              <a:t> </a:t>
            </a:r>
            <a:r>
              <a:rPr lang="ru-RU" sz="1800" cap="none" dirty="0" err="1">
                <a:latin typeface="Times New Roman" panose="02020603050405020304" pitchFamily="18" charset="0"/>
                <a:cs typeface="Times New Roman" panose="02020603050405020304" pitchFamily="18" charset="0"/>
              </a:rPr>
              <a:t>итд</a:t>
            </a:r>
            <a:br>
              <a:rPr lang="ru-RU" sz="1800" cap="none" dirty="0">
                <a:latin typeface="Times New Roman" panose="02020603050405020304" pitchFamily="18" charset="0"/>
                <a:cs typeface="Times New Roman" panose="02020603050405020304" pitchFamily="18" charset="0"/>
              </a:rPr>
            </a:br>
            <a:br>
              <a:rPr lang="ru-RU" sz="1800" cap="none" dirty="0">
                <a:latin typeface="Times New Roman" panose="02020603050405020304" pitchFamily="18" charset="0"/>
                <a:cs typeface="Times New Roman" panose="02020603050405020304" pitchFamily="18" charset="0"/>
              </a:rPr>
            </a:br>
            <a:r>
              <a:rPr lang="ru-KG" sz="1800" b="1" cap="none" dirty="0">
                <a:latin typeface="Times New Roman" panose="02020603050405020304" pitchFamily="18" charset="0"/>
                <a:cs typeface="Times New Roman" panose="02020603050405020304" pitchFamily="18" charset="0"/>
              </a:rPr>
              <a:t>tracking app не просто показывает точку на карте</a:t>
            </a:r>
            <a:r>
              <a:rPr lang="ru-KG" sz="1800" cap="none" dirty="0">
                <a:latin typeface="Times New Roman" panose="02020603050405020304" pitchFamily="18" charset="0"/>
                <a:cs typeface="Times New Roman" panose="02020603050405020304" pitchFamily="18" charset="0"/>
              </a:rPr>
              <a:t>. Апдейтер использует его, чтобы контролировать:</a:t>
            </a:r>
            <a:br>
              <a:rPr lang="ru-KG" sz="1800" cap="none" dirty="0">
                <a:latin typeface="Times New Roman" panose="02020603050405020304" pitchFamily="18" charset="0"/>
                <a:cs typeface="Times New Roman" panose="02020603050405020304" pitchFamily="18" charset="0"/>
              </a:rPr>
            </a:br>
            <a:r>
              <a:rPr lang="ru-KG" sz="1800" b="1" cap="none" dirty="0">
                <a:latin typeface="Times New Roman" panose="02020603050405020304" pitchFamily="18" charset="0"/>
                <a:cs typeface="Times New Roman" panose="02020603050405020304" pitchFamily="18" charset="0"/>
              </a:rPr>
              <a:t>current location → ETA → pickup → delivery → delays → on-time status.</a:t>
            </a:r>
            <a:br>
              <a:rPr lang="en-US" sz="1800" b="1" cap="none" dirty="0">
                <a:latin typeface="Times New Roman" panose="02020603050405020304" pitchFamily="18" charset="0"/>
                <a:cs typeface="Times New Roman" panose="02020603050405020304" pitchFamily="18" charset="0"/>
              </a:rPr>
            </a:br>
            <a:br>
              <a:rPr lang="en-US" sz="1800" b="1" cap="none" dirty="0">
                <a:latin typeface="Times New Roman" panose="02020603050405020304" pitchFamily="18" charset="0"/>
                <a:cs typeface="Times New Roman" panose="02020603050405020304" pitchFamily="18" charset="0"/>
              </a:rPr>
            </a:br>
            <a:r>
              <a:rPr lang="ru-RU" sz="1800" cap="none" dirty="0">
                <a:latin typeface="Times New Roman" panose="02020603050405020304" pitchFamily="18" charset="0"/>
                <a:cs typeface="Times New Roman" panose="02020603050405020304" pitchFamily="18" charset="0"/>
              </a:rPr>
              <a:t>Проверяем местоположение трака, вводим данные трака в приложение ( имя водителя, номер трака)  после чего в нем выходит вся информацию о метаположении трака и еще много данных. Копируем адрес</a:t>
            </a:r>
            <a:r>
              <a:rPr lang="en-US" sz="1800" cap="none" dirty="0">
                <a:latin typeface="Times New Roman" panose="02020603050405020304" pitchFamily="18" charset="0"/>
                <a:cs typeface="Times New Roman" panose="02020603050405020304" pitchFamily="18" charset="0"/>
              </a:rPr>
              <a:t>, </a:t>
            </a:r>
            <a:r>
              <a:rPr lang="ru-RU" sz="1800" cap="none" dirty="0">
                <a:latin typeface="Times New Roman" panose="02020603050405020304" pitchFamily="18" charset="0"/>
                <a:cs typeface="Times New Roman" panose="02020603050405020304" pitchFamily="18" charset="0"/>
              </a:rPr>
              <a:t>вставляем в </a:t>
            </a:r>
            <a:r>
              <a:rPr lang="en-US" sz="1800" cap="none" dirty="0">
                <a:latin typeface="Times New Roman" panose="02020603050405020304" pitchFamily="18" charset="0"/>
                <a:cs typeface="Times New Roman" panose="02020603050405020304" pitchFamily="18" charset="0"/>
              </a:rPr>
              <a:t>google map,</a:t>
            </a:r>
            <a:r>
              <a:rPr lang="ru-RU" sz="1800" cap="none" dirty="0">
                <a:latin typeface="Times New Roman" panose="02020603050405020304" pitchFamily="18" charset="0"/>
                <a:cs typeface="Times New Roman" panose="02020603050405020304" pitchFamily="18" charset="0"/>
              </a:rPr>
              <a:t> нажинаем и </a:t>
            </a:r>
            <a:br>
              <a:rPr lang="ru-RU" sz="1800" cap="none" dirty="0">
                <a:latin typeface="Times New Roman" panose="02020603050405020304" pitchFamily="18" charset="0"/>
                <a:cs typeface="Times New Roman" panose="02020603050405020304" pitchFamily="18" charset="0"/>
              </a:rPr>
            </a:br>
            <a:r>
              <a:rPr lang="ru-RU" sz="1800" cap="none" dirty="0">
                <a:latin typeface="Times New Roman" panose="02020603050405020304" pitchFamily="18" charset="0"/>
                <a:cs typeface="Times New Roman" panose="02020603050405020304" pitchFamily="18" charset="0"/>
              </a:rPr>
              <a:t>вводим адрес доставки. </a:t>
            </a:r>
            <a:br>
              <a:rPr lang="en-US" sz="1800" cap="none" dirty="0">
                <a:latin typeface="Times New Roman" panose="02020603050405020304" pitchFamily="18" charset="0"/>
                <a:cs typeface="Times New Roman" panose="02020603050405020304" pitchFamily="18" charset="0"/>
              </a:rPr>
            </a:br>
            <a:br>
              <a:rPr lang="en-US" sz="1800" cap="none" dirty="0">
                <a:latin typeface="Times New Roman" panose="02020603050405020304" pitchFamily="18" charset="0"/>
                <a:cs typeface="Times New Roman" panose="02020603050405020304" pitchFamily="18" charset="0"/>
              </a:rPr>
            </a:br>
            <a:r>
              <a:rPr lang="ru-RU" sz="1800" cap="none" dirty="0">
                <a:latin typeface="Times New Roman" panose="02020603050405020304" pitchFamily="18" charset="0"/>
                <a:cs typeface="Times New Roman" panose="02020603050405020304" pitchFamily="18" charset="0"/>
              </a:rPr>
              <a:t>Время доставки 17:00 </a:t>
            </a:r>
            <a:r>
              <a:rPr lang="en-US" sz="1800" cap="none" dirty="0">
                <a:latin typeface="Times New Roman" panose="02020603050405020304" pitchFamily="18" charset="0"/>
                <a:cs typeface="Times New Roman" panose="02020603050405020304" pitchFamily="18" charset="0"/>
              </a:rPr>
              <a:t>pm</a:t>
            </a:r>
            <a:r>
              <a:rPr lang="ru-RU" sz="1800" cap="none" dirty="0">
                <a:latin typeface="Times New Roman" panose="02020603050405020304" pitchFamily="18" charset="0"/>
                <a:cs typeface="Times New Roman" panose="02020603050405020304" pitchFamily="18" charset="0"/>
              </a:rPr>
              <a:t> штат </a:t>
            </a:r>
            <a:r>
              <a:rPr lang="en-US" sz="1800" cap="none" dirty="0">
                <a:latin typeface="Times New Roman" panose="02020603050405020304" pitchFamily="18" charset="0"/>
                <a:cs typeface="Times New Roman" panose="02020603050405020304" pitchFamily="18" charset="0"/>
              </a:rPr>
              <a:t>MS,</a:t>
            </a:r>
            <a:r>
              <a:rPr lang="ru-RU" sz="1800" cap="none" dirty="0">
                <a:latin typeface="Times New Roman" panose="02020603050405020304" pitchFamily="18" charset="0"/>
                <a:cs typeface="Times New Roman" panose="02020603050405020304" pitchFamily="18" charset="0"/>
              </a:rPr>
              <a:t> текущее время 9:57 </a:t>
            </a:r>
            <a:r>
              <a:rPr lang="en-US" sz="1800" cap="none" dirty="0">
                <a:latin typeface="Times New Roman" panose="02020603050405020304" pitchFamily="18" charset="0"/>
                <a:cs typeface="Times New Roman" panose="02020603050405020304" pitchFamily="18" charset="0"/>
              </a:rPr>
              <a:t>am, </a:t>
            </a:r>
            <a:r>
              <a:rPr lang="ru-RU" sz="1800" cap="none" dirty="0">
                <a:latin typeface="Times New Roman" panose="02020603050405020304" pitchFamily="18" charset="0"/>
                <a:cs typeface="Times New Roman" panose="02020603050405020304" pitchFamily="18" charset="0"/>
              </a:rPr>
              <a:t>карта показывает что ему ехать еще 7часов 46 минут значит </a:t>
            </a:r>
            <a:r>
              <a:rPr lang="en-US" sz="1800" cap="none" dirty="0">
                <a:latin typeface="Times New Roman" panose="02020603050405020304" pitchFamily="18" charset="0"/>
                <a:cs typeface="Times New Roman" panose="02020603050405020304" pitchFamily="18" charset="0"/>
              </a:rPr>
              <a:t>ETA on time</a:t>
            </a:r>
            <a:r>
              <a:rPr lang="ru-RU" sz="1800" cap="none" dirty="0">
                <a:latin typeface="Times New Roman" panose="02020603050405020304" pitchFamily="18" charset="0"/>
                <a:cs typeface="Times New Roman" panose="02020603050405020304" pitchFamily="18" charset="0"/>
              </a:rPr>
              <a:t>.</a:t>
            </a:r>
            <a:br>
              <a:rPr lang="ru-KG" sz="1600" b="1" cap="none" dirty="0">
                <a:latin typeface="Times New Roman" panose="02020603050405020304" pitchFamily="18" charset="0"/>
                <a:cs typeface="Times New Roman" panose="02020603050405020304" pitchFamily="18" charset="0"/>
              </a:rPr>
            </a:br>
            <a:br>
              <a:rPr lang="ru-KG" sz="1600" b="1" cap="none" dirty="0">
                <a:latin typeface="Times New Roman" panose="02020603050405020304" pitchFamily="18" charset="0"/>
                <a:cs typeface="Times New Roman" panose="02020603050405020304" pitchFamily="18" charset="0"/>
              </a:rPr>
            </a:br>
            <a:endParaRPr lang="ru-KG" sz="1600" dirty="0">
              <a:latin typeface="Times New Roman" panose="02020603050405020304" pitchFamily="18" charset="0"/>
              <a:cs typeface="Times New Roman" panose="02020603050405020304" pitchFamily="18" charset="0"/>
            </a:endParaRPr>
          </a:p>
        </p:txBody>
      </p:sp>
      <p:pic>
        <p:nvPicPr>
          <p:cNvPr id="7" name="Рисунок 6">
            <a:extLst>
              <a:ext uri="{FF2B5EF4-FFF2-40B4-BE49-F238E27FC236}">
                <a16:creationId xmlns:a16="http://schemas.microsoft.com/office/drawing/2014/main" id="{1909AB26-2334-74CC-31EF-E268F06CF43A}"/>
              </a:ext>
            </a:extLst>
          </p:cNvPr>
          <p:cNvPicPr>
            <a:picLocks noChangeAspect="1"/>
          </p:cNvPicPr>
          <p:nvPr/>
        </p:nvPicPr>
        <p:blipFill>
          <a:blip r:embed="rId2"/>
          <a:stretch>
            <a:fillRect/>
          </a:stretch>
        </p:blipFill>
        <p:spPr>
          <a:xfrm>
            <a:off x="8354823" y="821057"/>
            <a:ext cx="3656363" cy="2237688"/>
          </a:xfrm>
          <a:prstGeom prst="rect">
            <a:avLst/>
          </a:prstGeom>
        </p:spPr>
      </p:pic>
      <p:pic>
        <p:nvPicPr>
          <p:cNvPr id="9" name="Рисунок 8">
            <a:extLst>
              <a:ext uri="{FF2B5EF4-FFF2-40B4-BE49-F238E27FC236}">
                <a16:creationId xmlns:a16="http://schemas.microsoft.com/office/drawing/2014/main" id="{C60A6861-5E48-FA4D-65B0-11D18FF5E866}"/>
              </a:ext>
            </a:extLst>
          </p:cNvPr>
          <p:cNvPicPr>
            <a:picLocks noChangeAspect="1"/>
          </p:cNvPicPr>
          <p:nvPr/>
        </p:nvPicPr>
        <p:blipFill>
          <a:blip r:embed="rId3"/>
          <a:stretch>
            <a:fillRect/>
          </a:stretch>
        </p:blipFill>
        <p:spPr>
          <a:xfrm>
            <a:off x="8145481" y="3429000"/>
            <a:ext cx="3491538" cy="2877330"/>
          </a:xfrm>
          <a:prstGeom prst="rect">
            <a:avLst/>
          </a:prstGeom>
        </p:spPr>
      </p:pic>
      <p:pic>
        <p:nvPicPr>
          <p:cNvPr id="11" name="Рисунок 10">
            <a:extLst>
              <a:ext uri="{FF2B5EF4-FFF2-40B4-BE49-F238E27FC236}">
                <a16:creationId xmlns:a16="http://schemas.microsoft.com/office/drawing/2014/main" id="{F6A13B5E-7193-6A3B-4C63-762E8974B2EB}"/>
              </a:ext>
            </a:extLst>
          </p:cNvPr>
          <p:cNvPicPr>
            <a:picLocks noChangeAspect="1"/>
          </p:cNvPicPr>
          <p:nvPr/>
        </p:nvPicPr>
        <p:blipFill>
          <a:blip r:embed="rId4"/>
          <a:srcRect l="10295" r="21488"/>
          <a:stretch>
            <a:fillRect/>
          </a:stretch>
        </p:blipFill>
        <p:spPr>
          <a:xfrm>
            <a:off x="4455148" y="3850629"/>
            <a:ext cx="3491538" cy="2574311"/>
          </a:xfrm>
          <a:prstGeom prst="rect">
            <a:avLst/>
          </a:prstGeom>
        </p:spPr>
      </p:pic>
      <p:pic>
        <p:nvPicPr>
          <p:cNvPr id="15" name="Объект 14">
            <a:extLst>
              <a:ext uri="{FF2B5EF4-FFF2-40B4-BE49-F238E27FC236}">
                <a16:creationId xmlns:a16="http://schemas.microsoft.com/office/drawing/2014/main" id="{7825CA58-E7A1-418E-DBF3-321D7488689B}"/>
              </a:ext>
            </a:extLst>
          </p:cNvPr>
          <p:cNvPicPr>
            <a:picLocks noGrp="1" noChangeAspect="1"/>
          </p:cNvPicPr>
          <p:nvPr>
            <p:ph sz="quarter" idx="13"/>
          </p:nvPr>
        </p:nvPicPr>
        <p:blipFill>
          <a:blip r:embed="rId5"/>
          <a:stretch>
            <a:fillRect/>
          </a:stretch>
        </p:blipFill>
        <p:spPr>
          <a:xfrm>
            <a:off x="4256352" y="681571"/>
            <a:ext cx="5001560" cy="3058466"/>
          </a:xfrm>
          <a:prstGeom prst="rect">
            <a:avLst/>
          </a:prstGeom>
        </p:spPr>
      </p:pic>
      <p:pic>
        <p:nvPicPr>
          <p:cNvPr id="17" name="Рисунок 16">
            <a:extLst>
              <a:ext uri="{FF2B5EF4-FFF2-40B4-BE49-F238E27FC236}">
                <a16:creationId xmlns:a16="http://schemas.microsoft.com/office/drawing/2014/main" id="{B62043E9-7D18-99A1-DF1F-7715BF7B9763}"/>
              </a:ext>
            </a:extLst>
          </p:cNvPr>
          <p:cNvPicPr>
            <a:picLocks noChangeAspect="1"/>
          </p:cNvPicPr>
          <p:nvPr/>
        </p:nvPicPr>
        <p:blipFill>
          <a:blip r:embed="rId6"/>
          <a:stretch>
            <a:fillRect/>
          </a:stretch>
        </p:blipFill>
        <p:spPr>
          <a:xfrm>
            <a:off x="3084609" y="4367804"/>
            <a:ext cx="746272" cy="499861"/>
          </a:xfrm>
          <a:prstGeom prst="rect">
            <a:avLst/>
          </a:prstGeom>
        </p:spPr>
      </p:pic>
    </p:spTree>
    <p:extLst>
      <p:ext uri="{BB962C8B-B14F-4D97-AF65-F5344CB8AC3E}">
        <p14:creationId xmlns:p14="http://schemas.microsoft.com/office/powerpoint/2010/main" val="3913389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1972D9-703B-DA02-8FB0-8EA187FD1C00}"/>
              </a:ext>
            </a:extLst>
          </p:cNvPr>
          <p:cNvSpPr>
            <a:spLocks noGrp="1"/>
          </p:cNvSpPr>
          <p:nvPr>
            <p:ph type="title"/>
          </p:nvPr>
        </p:nvSpPr>
        <p:spPr>
          <a:xfrm>
            <a:off x="533399" y="1016954"/>
            <a:ext cx="5045991" cy="5096773"/>
          </a:xfrm>
        </p:spPr>
        <p:txBody>
          <a:bodyPr>
            <a:normAutofit/>
          </a:bodyPr>
          <a:lstStyle/>
          <a:p>
            <a:r>
              <a:rPr lang="en-US" sz="1600" cap="none" dirty="0">
                <a:latin typeface="Times New Roman" panose="02020603050405020304" pitchFamily="18" charset="0"/>
                <a:cs typeface="Times New Roman" panose="02020603050405020304" pitchFamily="18" charset="0"/>
              </a:rPr>
              <a:t>EFS-</a:t>
            </a:r>
            <a:r>
              <a:rPr lang="ru-KG" sz="1600" cap="none" dirty="0">
                <a:latin typeface="Times New Roman" panose="02020603050405020304" pitchFamily="18" charset="0"/>
                <a:cs typeface="Times New Roman" panose="02020603050405020304" pitchFamily="18" charset="0"/>
              </a:rPr>
              <a:t>это система/сервис для оплаты расходов перевозчика, прежде всего топлива и некоторых дорожных/ремонтных расходов.</a:t>
            </a:r>
            <a:br>
              <a:rPr lang="en-US" sz="1600" cap="none" dirty="0">
                <a:latin typeface="Times New Roman" panose="02020603050405020304" pitchFamily="18" charset="0"/>
                <a:cs typeface="Times New Roman" panose="02020603050405020304" pitchFamily="18" charset="0"/>
              </a:rPr>
            </a:br>
            <a:br>
              <a:rPr lang="en-US" sz="1600" cap="none" dirty="0">
                <a:latin typeface="Times New Roman" panose="02020603050405020304" pitchFamily="18" charset="0"/>
                <a:cs typeface="Times New Roman" panose="02020603050405020304" pitchFamily="18" charset="0"/>
              </a:rPr>
            </a:br>
            <a:r>
              <a:rPr lang="ru-RU" sz="1600" cap="none" dirty="0">
                <a:latin typeface="Times New Roman" panose="02020603050405020304" pitchFamily="18" charset="0"/>
                <a:cs typeface="Times New Roman" panose="02020603050405020304" pitchFamily="18" charset="0"/>
              </a:rPr>
              <a:t>После того как вы авторизовались, появляется окошка где в правом верхнем углу нужно будет нажать кнопку как на скриншоте. В следующем окне надо указать сумму выдачи, номер трака и примечание, чаще выписывается для </a:t>
            </a:r>
            <a:r>
              <a:rPr lang="en-US" sz="1600" cap="none" dirty="0">
                <a:latin typeface="Times New Roman" panose="02020603050405020304" pitchFamily="18" charset="0"/>
                <a:cs typeface="Times New Roman" panose="02020603050405020304" pitchFamily="18" charset="0"/>
              </a:rPr>
              <a:t>lumper fee </a:t>
            </a:r>
            <a:r>
              <a:rPr lang="en-US" sz="1200" cap="none" dirty="0">
                <a:latin typeface="Times New Roman" panose="02020603050405020304" pitchFamily="18" charset="0"/>
                <a:cs typeface="Times New Roman" panose="02020603050405020304" pitchFamily="18" charset="0"/>
              </a:rPr>
              <a:t>(LF-</a:t>
            </a:r>
            <a:r>
              <a:rPr lang="ru-KG" sz="1200" cap="none" dirty="0">
                <a:latin typeface="Times New Roman" panose="02020603050405020304" pitchFamily="18" charset="0"/>
                <a:cs typeface="Times New Roman" panose="02020603050405020304" pitchFamily="18" charset="0"/>
              </a:rPr>
              <a:t>плата за услуги lumper, то есть сторонней компании или работников склада, которые разгружают или загружают груз вместо водителя.</a:t>
            </a:r>
            <a:r>
              <a:rPr lang="en-US" sz="1200" cap="none" dirty="0">
                <a:latin typeface="Times New Roman" panose="02020603050405020304" pitchFamily="18" charset="0"/>
                <a:cs typeface="Times New Roman" panose="02020603050405020304" pitchFamily="18" charset="0"/>
              </a:rPr>
              <a:t>)</a:t>
            </a:r>
            <a:br>
              <a:rPr lang="en-US" sz="1200" cap="none" dirty="0">
                <a:latin typeface="Times New Roman" panose="02020603050405020304" pitchFamily="18" charset="0"/>
                <a:cs typeface="Times New Roman" panose="02020603050405020304" pitchFamily="18" charset="0"/>
              </a:rPr>
            </a:br>
            <a:r>
              <a:rPr lang="ru-RU" sz="1200" cap="none" dirty="0">
                <a:latin typeface="Times New Roman" panose="02020603050405020304" pitchFamily="18" charset="0"/>
                <a:cs typeface="Times New Roman" panose="02020603050405020304" pitchFamily="18" charset="0"/>
              </a:rPr>
              <a:t> </a:t>
            </a:r>
            <a:br>
              <a:rPr lang="ru-RU" sz="1200" cap="none" dirty="0">
                <a:latin typeface="Times New Roman" panose="02020603050405020304" pitchFamily="18" charset="0"/>
                <a:cs typeface="Times New Roman" panose="02020603050405020304" pitchFamily="18" charset="0"/>
              </a:rPr>
            </a:br>
            <a:r>
              <a:rPr lang="en-US" sz="1400" cap="none" dirty="0">
                <a:latin typeface="Times New Roman" panose="02020603050405020304" pitchFamily="18" charset="0"/>
                <a:cs typeface="Times New Roman" panose="02020603050405020304" pitchFamily="18" charset="0"/>
              </a:rPr>
              <a:t>Lumper fee </a:t>
            </a:r>
            <a:r>
              <a:rPr lang="ru-RU" sz="1400" cap="none" dirty="0">
                <a:latin typeface="Times New Roman" panose="02020603050405020304" pitchFamily="18" charset="0"/>
                <a:cs typeface="Times New Roman" panose="02020603050405020304" pitchFamily="18" charset="0"/>
              </a:rPr>
              <a:t>обычно оплачивается брокером. Когда водитель разгружается, он отправляет ссылку для оплаты, которую вам нужно отправить брокеру и сообщить что нужно </a:t>
            </a:r>
            <a:r>
              <a:rPr lang="ru-RU" sz="1400" cap="none" dirty="0" err="1">
                <a:latin typeface="Times New Roman" panose="02020603050405020304" pitchFamily="18" charset="0"/>
                <a:cs typeface="Times New Roman" panose="02020603050405020304" pitchFamily="18" charset="0"/>
              </a:rPr>
              <a:t>оплать</a:t>
            </a:r>
            <a:r>
              <a:rPr lang="ru-RU" sz="1400" cap="none" dirty="0">
                <a:latin typeface="Times New Roman" panose="02020603050405020304" pitchFamily="18" charset="0"/>
                <a:cs typeface="Times New Roman" panose="02020603050405020304" pitchFamily="18" charset="0"/>
              </a:rPr>
              <a:t> </a:t>
            </a:r>
            <a:r>
              <a:rPr lang="en-US" sz="1400" cap="none" dirty="0">
                <a:latin typeface="Times New Roman" panose="02020603050405020304" pitchFamily="18" charset="0"/>
                <a:cs typeface="Times New Roman" panose="02020603050405020304" pitchFamily="18" charset="0"/>
              </a:rPr>
              <a:t>LF </a:t>
            </a:r>
            <a:r>
              <a:rPr lang="ru-RU" sz="1400" cap="none" dirty="0">
                <a:latin typeface="Times New Roman" panose="02020603050405020304" pitchFamily="18" charset="0"/>
                <a:cs typeface="Times New Roman" panose="02020603050405020304" pitchFamily="18" charset="0"/>
              </a:rPr>
              <a:t>в размере к примеру 100 </a:t>
            </a:r>
            <a:r>
              <a:rPr lang="en-US" sz="1400" cap="none" dirty="0">
                <a:latin typeface="Times New Roman" panose="02020603050405020304" pitchFamily="18" charset="0"/>
                <a:cs typeface="Times New Roman" panose="02020603050405020304" pitchFamily="18" charset="0"/>
              </a:rPr>
              <a:t>$. Broker  </a:t>
            </a:r>
            <a:r>
              <a:rPr lang="ru-RU" sz="1400" cap="none" dirty="0">
                <a:latin typeface="Times New Roman" panose="02020603050405020304" pitchFamily="18" charset="0"/>
                <a:cs typeface="Times New Roman" panose="02020603050405020304" pitchFamily="18" charset="0"/>
              </a:rPr>
              <a:t>может выдать вам код, по которому водитель может оплатить </a:t>
            </a:r>
            <a:r>
              <a:rPr lang="en-US" sz="1400" cap="none" dirty="0">
                <a:latin typeface="Times New Roman" panose="02020603050405020304" pitchFamily="18" charset="0"/>
                <a:cs typeface="Times New Roman" panose="02020603050405020304" pitchFamily="18" charset="0"/>
              </a:rPr>
              <a:t>LF</a:t>
            </a:r>
            <a:r>
              <a:rPr lang="ru-RU" sz="1400" cap="none" dirty="0">
                <a:latin typeface="Times New Roman" panose="02020603050405020304" pitchFamily="18" charset="0"/>
                <a:cs typeface="Times New Roman" panose="02020603050405020304" pitchFamily="18" charset="0"/>
              </a:rPr>
              <a:t> или же попросить вас выдать </a:t>
            </a:r>
            <a:r>
              <a:rPr lang="en-US" sz="1400" cap="none" dirty="0">
                <a:latin typeface="Times New Roman" panose="02020603050405020304" pitchFamily="18" charset="0"/>
                <a:cs typeface="Times New Roman" panose="02020603050405020304" pitchFamily="18" charset="0"/>
              </a:rPr>
              <a:t>EFS</a:t>
            </a:r>
            <a:r>
              <a:rPr lang="ru-RU" sz="1400" cap="none" dirty="0">
                <a:latin typeface="Times New Roman" panose="02020603050405020304" pitchFamily="18" charset="0"/>
                <a:cs typeface="Times New Roman" panose="02020603050405020304" pitchFamily="18" charset="0"/>
              </a:rPr>
              <a:t> и оплатить за него, в таком случаи он должен будет возместить потраченную сумму.</a:t>
            </a:r>
            <a:br>
              <a:rPr lang="ru-RU" sz="1400" cap="none" dirty="0">
                <a:latin typeface="Times New Roman" panose="02020603050405020304" pitchFamily="18" charset="0"/>
                <a:cs typeface="Times New Roman" panose="02020603050405020304" pitchFamily="18" charset="0"/>
              </a:rPr>
            </a:br>
            <a:endParaRPr lang="ru-KG" sz="1200" cap="none" dirty="0">
              <a:latin typeface="Times New Roman" panose="02020603050405020304" pitchFamily="18" charset="0"/>
              <a:cs typeface="Times New Roman" panose="02020603050405020304" pitchFamily="18" charset="0"/>
            </a:endParaRPr>
          </a:p>
        </p:txBody>
      </p:sp>
      <p:pic>
        <p:nvPicPr>
          <p:cNvPr id="13" name="Объект 12">
            <a:extLst>
              <a:ext uri="{FF2B5EF4-FFF2-40B4-BE49-F238E27FC236}">
                <a16:creationId xmlns:a16="http://schemas.microsoft.com/office/drawing/2014/main" id="{B9B3A7B6-26B9-F87F-0D53-023F49744D33}"/>
              </a:ext>
            </a:extLst>
          </p:cNvPr>
          <p:cNvPicPr>
            <a:picLocks noGrp="1" noChangeAspect="1"/>
          </p:cNvPicPr>
          <p:nvPr>
            <p:ph sz="quarter" idx="13"/>
          </p:nvPr>
        </p:nvPicPr>
        <p:blipFill>
          <a:blip r:embed="rId2"/>
          <a:srcRect l="13679" t="16" r="980" b="37234"/>
          <a:stretch>
            <a:fillRect/>
          </a:stretch>
        </p:blipFill>
        <p:spPr>
          <a:xfrm>
            <a:off x="5818752" y="816840"/>
            <a:ext cx="5202264" cy="2289840"/>
          </a:xfrm>
          <a:prstGeom prst="rect">
            <a:avLst/>
          </a:prstGeom>
        </p:spPr>
      </p:pic>
      <p:pic>
        <p:nvPicPr>
          <p:cNvPr id="15" name="Рисунок 14">
            <a:extLst>
              <a:ext uri="{FF2B5EF4-FFF2-40B4-BE49-F238E27FC236}">
                <a16:creationId xmlns:a16="http://schemas.microsoft.com/office/drawing/2014/main" id="{7A051073-BD70-7218-08A4-201C2762883E}"/>
              </a:ext>
            </a:extLst>
          </p:cNvPr>
          <p:cNvPicPr>
            <a:picLocks noChangeAspect="1"/>
          </p:cNvPicPr>
          <p:nvPr/>
        </p:nvPicPr>
        <p:blipFill>
          <a:blip r:embed="rId3"/>
          <a:srcRect l="24178" t="22825" r="23977" b="48501"/>
          <a:stretch>
            <a:fillRect/>
          </a:stretch>
        </p:blipFill>
        <p:spPr>
          <a:xfrm>
            <a:off x="5818752" y="3224377"/>
            <a:ext cx="5374466" cy="1984418"/>
          </a:xfrm>
          <a:prstGeom prst="rect">
            <a:avLst/>
          </a:prstGeom>
        </p:spPr>
      </p:pic>
      <p:pic>
        <p:nvPicPr>
          <p:cNvPr id="18" name="Рисунок 17">
            <a:extLst>
              <a:ext uri="{FF2B5EF4-FFF2-40B4-BE49-F238E27FC236}">
                <a16:creationId xmlns:a16="http://schemas.microsoft.com/office/drawing/2014/main" id="{40F0154E-061B-89A1-44CA-0408115E1693}"/>
              </a:ext>
            </a:extLst>
          </p:cNvPr>
          <p:cNvPicPr>
            <a:picLocks noChangeAspect="1"/>
          </p:cNvPicPr>
          <p:nvPr/>
        </p:nvPicPr>
        <p:blipFill>
          <a:blip r:embed="rId4"/>
          <a:srcRect r="23887" b="14787"/>
          <a:stretch>
            <a:fillRect/>
          </a:stretch>
        </p:blipFill>
        <p:spPr>
          <a:xfrm>
            <a:off x="6612612" y="5326492"/>
            <a:ext cx="2810357" cy="1105305"/>
          </a:xfrm>
          <a:prstGeom prst="rect">
            <a:avLst/>
          </a:prstGeom>
        </p:spPr>
      </p:pic>
      <p:pic>
        <p:nvPicPr>
          <p:cNvPr id="20" name="Рисунок 19">
            <a:extLst>
              <a:ext uri="{FF2B5EF4-FFF2-40B4-BE49-F238E27FC236}">
                <a16:creationId xmlns:a16="http://schemas.microsoft.com/office/drawing/2014/main" id="{DBD68F89-178D-EB41-7737-CB649C03271F}"/>
              </a:ext>
            </a:extLst>
          </p:cNvPr>
          <p:cNvPicPr>
            <a:picLocks noChangeAspect="1"/>
          </p:cNvPicPr>
          <p:nvPr/>
        </p:nvPicPr>
        <p:blipFill>
          <a:blip r:embed="rId5"/>
          <a:srcRect t="10936" r="10053" b="18976"/>
          <a:stretch>
            <a:fillRect/>
          </a:stretch>
        </p:blipFill>
        <p:spPr>
          <a:xfrm>
            <a:off x="1433445" y="4517182"/>
            <a:ext cx="3245897" cy="1000214"/>
          </a:xfrm>
          <a:prstGeom prst="rect">
            <a:avLst/>
          </a:prstGeom>
        </p:spPr>
      </p:pic>
      <p:pic>
        <p:nvPicPr>
          <p:cNvPr id="22" name="Рисунок 21">
            <a:extLst>
              <a:ext uri="{FF2B5EF4-FFF2-40B4-BE49-F238E27FC236}">
                <a16:creationId xmlns:a16="http://schemas.microsoft.com/office/drawing/2014/main" id="{D27B7B83-9AD6-AC49-325D-7D1589263299}"/>
              </a:ext>
            </a:extLst>
          </p:cNvPr>
          <p:cNvPicPr>
            <a:picLocks noChangeAspect="1"/>
          </p:cNvPicPr>
          <p:nvPr/>
        </p:nvPicPr>
        <p:blipFill>
          <a:blip r:embed="rId6"/>
          <a:srcRect r="19048" b="32105"/>
          <a:stretch>
            <a:fillRect/>
          </a:stretch>
        </p:blipFill>
        <p:spPr>
          <a:xfrm>
            <a:off x="294037" y="5667120"/>
            <a:ext cx="3245897" cy="920921"/>
          </a:xfrm>
          <a:prstGeom prst="rect">
            <a:avLst/>
          </a:prstGeom>
        </p:spPr>
      </p:pic>
    </p:spTree>
    <p:extLst>
      <p:ext uri="{BB962C8B-B14F-4D97-AF65-F5344CB8AC3E}">
        <p14:creationId xmlns:p14="http://schemas.microsoft.com/office/powerpoint/2010/main" val="1288871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8E3181-3725-10C3-8C11-317563480C11}"/>
              </a:ext>
            </a:extLst>
          </p:cNvPr>
          <p:cNvSpPr>
            <a:spLocks noGrp="1"/>
          </p:cNvSpPr>
          <p:nvPr>
            <p:ph type="title"/>
          </p:nvPr>
        </p:nvSpPr>
        <p:spPr>
          <a:xfrm>
            <a:off x="533399" y="1016954"/>
            <a:ext cx="5436080" cy="5142305"/>
          </a:xfrm>
        </p:spPr>
        <p:txBody>
          <a:bodyPr>
            <a:normAutofit fontScale="90000"/>
          </a:bodyPr>
          <a:lstStyle/>
          <a:p>
            <a:r>
              <a:rPr lang="en-US" sz="2200" b="1" dirty="0">
                <a:latin typeface="+mn-lt"/>
                <a:cs typeface="Times New Roman" panose="02020603050405020304" pitchFamily="18" charset="0"/>
              </a:rPr>
              <a:t>5. </a:t>
            </a:r>
            <a:r>
              <a:rPr lang="ru-RU" sz="2200" b="1" dirty="0">
                <a:latin typeface="+mn-lt"/>
              </a:rPr>
              <a:t>Взаимодействия с другими структурами</a:t>
            </a:r>
            <a:br>
              <a:rPr lang="ru-RU" sz="1400" dirty="0">
                <a:latin typeface="+mn-lt"/>
              </a:rPr>
            </a:br>
            <a:br>
              <a:rPr lang="en-US" sz="1300" dirty="0">
                <a:latin typeface="Times New Roman" panose="02020603050405020304" pitchFamily="18" charset="0"/>
                <a:cs typeface="Times New Roman" panose="02020603050405020304" pitchFamily="18" charset="0"/>
              </a:rPr>
            </a:br>
            <a:r>
              <a:rPr lang="ru-KG" sz="1400" dirty="0"/>
              <a:t>Роль каждого отдела</a:t>
            </a:r>
            <a:br>
              <a:rPr lang="ru-KG" sz="1400" dirty="0"/>
            </a:br>
            <a:br>
              <a:rPr lang="ru-KG" sz="1400" b="1" dirty="0"/>
            </a:br>
            <a:r>
              <a:rPr lang="ru-KG" sz="1400" b="1" dirty="0"/>
              <a:t>👨‍💼 Dispatcher</a:t>
            </a:r>
            <a:br>
              <a:rPr lang="ru-KG" sz="1400" dirty="0"/>
            </a:br>
            <a:r>
              <a:rPr lang="ru-KG" sz="1400" dirty="0"/>
              <a:t>Работа с loads, booking, broker, расписанием и организацией поездки.</a:t>
            </a:r>
            <a:br>
              <a:rPr lang="ru-KG" sz="1400" dirty="0"/>
            </a:br>
            <a:r>
              <a:rPr lang="ru-KG" sz="1400" b="1" dirty="0"/>
              <a:t>👁️ Updater</a:t>
            </a:r>
            <a:br>
              <a:rPr lang="ru-KG" sz="1400" dirty="0"/>
            </a:br>
            <a:r>
              <a:rPr lang="ru-KG" sz="1400" dirty="0"/>
              <a:t>Мониторинг выполнения load: location, ETA, stops, delays, pickup, delivery, коммуникация и передача актуальной информации.</a:t>
            </a:r>
            <a:br>
              <a:rPr lang="ru-KG" sz="1400" dirty="0"/>
            </a:br>
            <a:r>
              <a:rPr lang="ru-KG" sz="1400" b="1" dirty="0"/>
              <a:t>🚚 Driver</a:t>
            </a:r>
            <a:br>
              <a:rPr lang="ru-KG" sz="1400" dirty="0"/>
            </a:br>
            <a:r>
              <a:rPr lang="ru-KG" sz="1400" dirty="0"/>
              <a:t>Физически выполняет перевозку, сообщает статус, забирает и доставляет груз, предоставляет документы и фотографии.</a:t>
            </a:r>
            <a:br>
              <a:rPr lang="ru-KG" sz="1400" dirty="0"/>
            </a:br>
            <a:r>
              <a:rPr lang="ru-KG" sz="1400" b="1" dirty="0"/>
              <a:t>🛠️ Fleet</a:t>
            </a:r>
            <a:br>
              <a:rPr lang="ru-KG" sz="1400" dirty="0"/>
            </a:br>
            <a:r>
              <a:rPr lang="ru-KG" sz="1400" dirty="0"/>
              <a:t>Truck и trailer: техническое состояние, maintenance, repairs, tires, parts, road service.</a:t>
            </a:r>
            <a:br>
              <a:rPr lang="ru-KG" sz="1400" dirty="0"/>
            </a:br>
            <a:r>
              <a:rPr lang="ru-KG" sz="1400" b="1" dirty="0"/>
              <a:t>🛡️ Safety</a:t>
            </a:r>
            <a:br>
              <a:rPr lang="ru-KG" sz="1400" dirty="0"/>
            </a:br>
            <a:r>
              <a:rPr lang="ru-KG" sz="1400" dirty="0"/>
              <a:t>Безопасность и compliance, расследование инцидентов, safety-документация и соответствующие внутренние процедуры.</a:t>
            </a:r>
            <a:br>
              <a:rPr lang="ru-KG" sz="1400" dirty="0"/>
            </a:br>
            <a:r>
              <a:rPr lang="ru-KG" sz="1400" b="1" dirty="0"/>
              <a:t>💰 Accounting</a:t>
            </a:r>
            <a:br>
              <a:rPr lang="ru-KG" sz="1400" dirty="0"/>
            </a:br>
            <a:r>
              <a:rPr lang="ru-KG" sz="1400" dirty="0"/>
              <a:t>Invoices, expenses, receipts, reimbursements, settlements и финансовая документация.</a:t>
            </a:r>
            <a:br>
              <a:rPr lang="ru-KG" sz="1400" dirty="0"/>
            </a:br>
            <a:r>
              <a:rPr lang="ru-KG" sz="1400" b="1" dirty="0"/>
              <a:t>🤝 Broker / Amazon</a:t>
            </a:r>
            <a:br>
              <a:rPr lang="ru-KG" sz="1400" dirty="0"/>
            </a:br>
            <a:r>
              <a:rPr lang="ru-KG" sz="1400" dirty="0"/>
              <a:t>Источник конкретного load и операционных требований. В Amazon Relay работа ведётся непосредственно через платформу Amazon, а для street freight обычно взаимодействуют с broker.</a:t>
            </a:r>
            <a:br>
              <a:rPr lang="ru-KG" sz="1400" dirty="0"/>
            </a:br>
            <a:endParaRPr lang="ru-KG" sz="1400"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271F39C0-5A2E-2A85-6469-DE315F1907F5}"/>
              </a:ext>
            </a:extLst>
          </p:cNvPr>
          <p:cNvSpPr>
            <a:spLocks noGrp="1"/>
          </p:cNvSpPr>
          <p:nvPr>
            <p:ph sz="quarter" idx="13"/>
          </p:nvPr>
        </p:nvSpPr>
        <p:spPr>
          <a:xfrm>
            <a:off x="6400800" y="793631"/>
            <a:ext cx="5257799" cy="5365628"/>
          </a:xfrm>
        </p:spPr>
        <p:txBody>
          <a:bodyPr>
            <a:normAutofit/>
          </a:bodyPr>
          <a:lstStyle/>
          <a:p>
            <a:pPr marL="0" indent="0">
              <a:buNone/>
            </a:pPr>
            <a:r>
              <a:rPr lang="en" dirty="0"/>
              <a:t> </a:t>
            </a:r>
            <a:r>
              <a:rPr lang="ru-RU" dirty="0"/>
              <a:t>         </a:t>
            </a:r>
            <a:r>
              <a:rPr lang="en" dirty="0"/>
              <a:t>👁️ </a:t>
            </a:r>
            <a:r>
              <a:rPr lang="en" sz="1600" dirty="0"/>
              <a:t>UPDATER</a:t>
            </a:r>
          </a:p>
          <a:p>
            <a:pPr marL="0" indent="0">
              <a:buNone/>
            </a:pPr>
            <a:r>
              <a:rPr lang="en" sz="1600" dirty="0"/>
              <a:t>                     │</a:t>
            </a:r>
          </a:p>
          <a:p>
            <a:pPr marL="0" indent="0">
              <a:buNone/>
            </a:pPr>
            <a:r>
              <a:rPr lang="en" sz="1600" dirty="0"/>
              <a:t>          </a:t>
            </a:r>
            <a:r>
              <a:rPr lang="ru-RU" sz="1600" dirty="0"/>
              <a:t>Что произошло?</a:t>
            </a:r>
          </a:p>
          <a:p>
            <a:pPr marL="0" indent="0">
              <a:buNone/>
            </a:pPr>
            <a:r>
              <a:rPr lang="ru-RU" sz="1600" dirty="0"/>
              <a:t>                     │</a:t>
            </a:r>
          </a:p>
          <a:p>
            <a:pPr marL="0" indent="0">
              <a:buNone/>
            </a:pPr>
            <a:r>
              <a:rPr lang="ru-RU" sz="1600" dirty="0"/>
              <a:t>        ┌────────────┼────────────┐</a:t>
            </a:r>
          </a:p>
          <a:p>
            <a:pPr marL="0" indent="0">
              <a:buNone/>
            </a:pPr>
            <a:r>
              <a:rPr lang="ru-RU" sz="1600" dirty="0"/>
              <a:t>        ▼            ▼            ▼</a:t>
            </a:r>
          </a:p>
          <a:p>
            <a:pPr marL="0" indent="0">
              <a:buNone/>
            </a:pPr>
            <a:r>
              <a:rPr lang="ru-RU" sz="1600" dirty="0"/>
              <a:t>   </a:t>
            </a:r>
            <a:r>
              <a:rPr lang="en" sz="1600" dirty="0"/>
              <a:t>🚛 OPERATIONS   🛠️ FLEET    🛡️ SAFETY</a:t>
            </a:r>
          </a:p>
          <a:p>
            <a:pPr marL="0" indent="0">
              <a:buNone/>
            </a:pPr>
            <a:r>
              <a:rPr lang="en" sz="1600" dirty="0"/>
              <a:t>   Load / Delay    Repair       Incident</a:t>
            </a:r>
          </a:p>
          <a:p>
            <a:pPr marL="0" indent="0">
              <a:buNone/>
            </a:pPr>
            <a:r>
              <a:rPr lang="en" sz="1600" dirty="0"/>
              <a:t>        │            │            │</a:t>
            </a:r>
          </a:p>
          <a:p>
            <a:pPr marL="0" indent="0">
              <a:buNone/>
            </a:pPr>
            <a:r>
              <a:rPr lang="en" sz="1600" dirty="0"/>
              <a:t>        └────────────┼────────────┘</a:t>
            </a:r>
          </a:p>
          <a:p>
            <a:pPr marL="0" indent="0">
              <a:buNone/>
            </a:pPr>
            <a:r>
              <a:rPr lang="en" sz="1600" dirty="0"/>
              <a:t>                     ▼</a:t>
            </a:r>
          </a:p>
          <a:p>
            <a:pPr marL="0" indent="0">
              <a:buNone/>
            </a:pPr>
            <a:r>
              <a:rPr lang="en" sz="1600" dirty="0"/>
              <a:t>                💰 ACCOUNTING</a:t>
            </a:r>
          </a:p>
          <a:p>
            <a:pPr marL="0" indent="0">
              <a:buNone/>
            </a:pPr>
            <a:r>
              <a:rPr lang="en" sz="1600" dirty="0"/>
              <a:t>          Expense / EFS / Receipt                   </a:t>
            </a:r>
          </a:p>
        </p:txBody>
      </p:sp>
    </p:spTree>
    <p:extLst>
      <p:ext uri="{BB962C8B-B14F-4D97-AF65-F5344CB8AC3E}">
        <p14:creationId xmlns:p14="http://schemas.microsoft.com/office/powerpoint/2010/main" val="1634828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4D2662-DE57-B7D2-EF8A-6F6CC80D32BE}"/>
              </a:ext>
            </a:extLst>
          </p:cNvPr>
          <p:cNvSpPr>
            <a:spLocks noGrp="1"/>
          </p:cNvSpPr>
          <p:nvPr>
            <p:ph type="title"/>
          </p:nvPr>
        </p:nvSpPr>
        <p:spPr>
          <a:xfrm>
            <a:off x="584199" y="915354"/>
            <a:ext cx="11269134" cy="5485445"/>
          </a:xfrm>
        </p:spPr>
        <p:txBody>
          <a:bodyPr>
            <a:noAutofit/>
          </a:bodyPr>
          <a:lstStyle/>
          <a:p>
            <a:pPr algn="ctr"/>
            <a:r>
              <a:rPr lang="ru-KG" sz="1600" b="1" cap="none" dirty="0">
                <a:latin typeface="Times New Roman" panose="02020603050405020304" pitchFamily="18" charset="0"/>
                <a:cs typeface="Times New Roman" panose="02020603050405020304" pitchFamily="18" charset="0"/>
              </a:rPr>
              <a:t>Самые нужные фразы апдейтера</a:t>
            </a:r>
            <a:br>
              <a:rPr lang="ru-KG" sz="1600" b="1" cap="none" dirty="0">
                <a:latin typeface="Times New Roman" panose="02020603050405020304" pitchFamily="18" charset="0"/>
                <a:cs typeface="Times New Roman" panose="02020603050405020304" pitchFamily="18" charset="0"/>
              </a:rPr>
            </a:b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С водителем:</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where are you currently? — Где вы сейчас?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What is your ETA? — Какое у вас ETA?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Are you at pickup? — Вы уже на pickup?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Are you loaded? — Вы загружены?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Are you empty? — Вы уже разгружены?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Are you on your way to delivery? — Вы уже едете на delivery?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How long is your break? — Сколько длится ваш break?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Please send pickup photos. — Пришлите фото с pickup.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Please send the signed BOL. — Пришлите подписанный BOL.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Please send the seal number/photo. — Пришлите номер/фото пломбы.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Please keep us updated. — Держите нас в курсе.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Брокеру:</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driver is on time. — Водитель идёт по графику.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Driver is running late due to traffic. — Водитель опаздывает из-за трафика.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Driver is delayed due to a road closure. — Задержка из-за перекрытия дороги.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Driver has arrived at pickup. — Водитель прибыл на pickup.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Driver is loaded and on the way. — Водитель загружен и в пути.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Driver is at delivery. — Водитель на delivery.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Please confirm the appointment time. — Подтвердите время appointment.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Please confirm the delivery address. — Подтвердите адрес доставки.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Please confirm the reefer temperature. — Подтвердите температуру reefer.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Please advise on the lumper fee. — Подскажите по оплате lumper fee.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Please advise on detention. — Подскажите по detention. </a:t>
            </a:r>
            <a:br>
              <a:rPr lang="ru-KG" sz="1500" cap="none" dirty="0">
                <a:latin typeface="Times New Roman" panose="02020603050405020304" pitchFamily="18" charset="0"/>
                <a:cs typeface="Times New Roman" panose="02020603050405020304" pitchFamily="18" charset="0"/>
              </a:rPr>
            </a:br>
            <a:r>
              <a:rPr lang="ru-KG" sz="1500" cap="none" dirty="0">
                <a:latin typeface="Times New Roman" panose="02020603050405020304" pitchFamily="18" charset="0"/>
                <a:cs typeface="Times New Roman" panose="02020603050405020304" pitchFamily="18" charset="0"/>
              </a:rPr>
              <a:t>Are we good to go? — Мы можем продолжать? </a:t>
            </a:r>
            <a:br>
              <a:rPr lang="ru-KG" sz="1500" cap="none" dirty="0">
                <a:latin typeface="Times New Roman" panose="02020603050405020304" pitchFamily="18" charset="0"/>
                <a:cs typeface="Times New Roman" panose="02020603050405020304" pitchFamily="18" charset="0"/>
              </a:rPr>
            </a:br>
            <a:br>
              <a:rPr lang="ru-KG" sz="1500" cap="none" dirty="0">
                <a:latin typeface="Times New Roman" panose="02020603050405020304" pitchFamily="18" charset="0"/>
                <a:cs typeface="Times New Roman" panose="02020603050405020304" pitchFamily="18" charset="0"/>
              </a:rPr>
            </a:br>
            <a:br>
              <a:rPr lang="ru-KG" sz="1500" dirty="0"/>
            </a:br>
            <a:endParaRPr lang="ru-KG" sz="1500" dirty="0"/>
          </a:p>
        </p:txBody>
      </p:sp>
    </p:spTree>
    <p:extLst>
      <p:ext uri="{BB962C8B-B14F-4D97-AF65-F5344CB8AC3E}">
        <p14:creationId xmlns:p14="http://schemas.microsoft.com/office/powerpoint/2010/main" val="3939537811"/>
      </p:ext>
    </p:extLst>
  </p:cSld>
  <p:clrMapOvr>
    <a:masterClrMapping/>
  </p:clrMapOvr>
</p:sld>
</file>

<file path=ppt/theme/theme1.xml><?xml version="1.0" encoding="utf-8"?>
<a:theme xmlns:a="http://schemas.openxmlformats.org/drawingml/2006/main" name="Остаток от деления">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 id="{37AC43F2-9181-4AE3-B669-CCC580C183C1}" vid="{7A2AE0A7-E8DE-4D1D-AEB1-3FD192448292}"/>
    </a:ext>
  </a:extLst>
</a:theme>
</file>

<file path=docProps/app.xml><?xml version="1.0" encoding="utf-8"?>
<Properties xmlns="http://schemas.openxmlformats.org/officeDocument/2006/extended-properties" xmlns:vt="http://schemas.openxmlformats.org/officeDocument/2006/docPropsVTypes">
  <Template>Modulo</Template>
  <TotalTime>464</TotalTime>
  <Words>2231</Words>
  <Application>Microsoft Macintosh PowerPoint</Application>
  <PresentationFormat>Широкоэкранный</PresentationFormat>
  <Paragraphs>89</Paragraphs>
  <Slides>18</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18</vt:i4>
      </vt:variant>
    </vt:vector>
  </HeadingPairs>
  <TitlesOfParts>
    <vt:vector size="21" baseType="lpstr">
      <vt:lpstr>Arial</vt:lpstr>
      <vt:lpstr>Times New Roman</vt:lpstr>
      <vt:lpstr>Остаток от деления</vt:lpstr>
      <vt:lpstr>Updater academy</vt:lpstr>
      <vt:lpstr>Содержание</vt:lpstr>
      <vt:lpstr>1.Updater держит load под контролем от Pickup до Delivery</vt:lpstr>
      <vt:lpstr>2. Amazon Relay соединяет carrier напрямую с грузами Amazon</vt:lpstr>
      <vt:lpstr>В Relay load проходит путь от booking до delivery</vt:lpstr>
      <vt:lpstr>СНАЧАЛА — 8 РАБОЧИХ ЗОН</vt:lpstr>
      <vt:lpstr>Презентация PowerPoint</vt:lpstr>
      <vt:lpstr>Для того чтобы связаться с ROC нужно нажать кнопку    далее, указываем причину, это может tire issue, mechanical trailer, no empty trailer  на вопрос :                                                                    отвечаем NO  после появляется окошка для ваших данных, куда вы можете загрузить фотографии поломки и ваш номер телефона по которому с вами свяжется ROC  ROC продиктует номер груза по которому вы запросили звонок, далее вам нужно будет ему объяснить ситуацию и попросить к примеру вызвать road service   Если у вас спустило колесо. Вы может загрузить фото, где четко видны данные колеса                                                        </vt:lpstr>
      <vt:lpstr>  Если водитель попал в трафик, дорога временно закрыта или инспекция его остановило итд и он опаздывает на доставку, мы нажимаем   после появляется окошко как справа. Тут надо будет указать причину из списка и передвинуть время на доставку, которое нужно сверить с водителем заранее  как только проблема будет устранена, вы можете указать в комментариях под грузом о том что починились и выехали на доставку     «we got fixed and start rolling to delivery. ETA 7pm» </vt:lpstr>
      <vt:lpstr>У системы amazon есть свой тракинг. Кнопка находится снизу под каждым грузом.     На окне появляется вся информация о местонахождении груза, стопах, расчетное время прибытия. В амазон грузах благодаря этой функции нет необходимости перепроверять расстояние до доставки и время   если вдруг вы не проследили и водитель уже опаздывает, на главной странице время прибытия загорится красным. В таком случаи нужно в срочном порядке выполнить все вышеуказанные инструкции, с предыдущего слайда</vt:lpstr>
      <vt:lpstr>Когда водитель заезжает В facility, он должен сделать check in (Т.Е отметиться О прибытии) В guard shack со своим номером груза, апдейтор должен проверить появился ли значок Y+  В системе. Так же У водителя есть relay app, где есть вся информация по грузу. Он отправляет все фотографии С пикапа. Это: трейлер С номером, если есть повреждения на нем, не помешает проверить даты на бумагах К трейлеру: annual inspection/ registration  В телеграме есть группа, где есть много информации по складам амазон, facility, которые не работают во время праздником. Где нельзя парковаться и много нужной информации вы можете отыскать в этой группе. * link       https://t.Me/restricted_roads  обязательно проверяем BOL на соответствие данных в системе: пикап и деливери адреса, номер трейлера, вес груза rate confirmation каждый диспетчер отправляет по разному. Это может быть просто текст с заметками  или же скриншот с амазона P.S. Вес груза не должен превышать 80000 lbs                    </vt:lpstr>
      <vt:lpstr>3. DAT и street loads — spot freight за пределами Amazon</vt:lpstr>
      <vt:lpstr>Rate confirmation (rate con) — это официальный документ от брокера, который подтверждает условия перевозки конкретного груза для перевозчика (carrier). Здесь хороший пример rate confirmation, так как на документе много данных о грузе. Адреса и контакты. Rate con в чатах часто закреплен, если у водителя это текущий груз. Апдейтор может позвонить по указанному номеру брокера, который указан на RC. К примера для оплаты lumper fee, получить confirmation to GTG (good to go)  BOL (bill of lading) — это товарно-транспортная накладная, документ, который сопровождает груз при перевозке. Данные на Rate con и BOL всегда должны совпадать, следовательно апдейтору нужно сверить данные этих двух документов, когда водитель отправит фотографии с pick up, на shipper. Это адреса доставки, appointment time, номер груза  Обязательно прочтите особые указания, если такие есть</vt:lpstr>
      <vt:lpstr>В телеграм чатах у каждого водителя есть своя группа с его именем и номером трака. Где есть его номер телефона и почта   В этом примере показано как обычно апдейтится pick up водитель выслал фотографии груженного трейлера, закрепленный груз, lock/seal и BOL. Апдейтор отправляет их брокеру, тот проверяет и подтверждает, после может будет написать водителю в группу GTG  И пример с погодными условиями:  </vt:lpstr>
      <vt:lpstr> Tracking-приложения fourkites, samsara, swift eld, macropoint итд  tracking app не просто показывает точку на карте. Апдейтер использует его, чтобы контролировать: current location → ETA → pickup → delivery → delays → on-time status.  Проверяем местоположение трака, вводим данные трака в приложение ( имя водителя, номер трака)  после чего в нем выходит вся информацию о метаположении трака и еще много данных. Копируем адрес, вставляем в google map, нажинаем и  вводим адрес доставки.   Время доставки 17:00 pm штат MS, текущее время 9:57 am, карта показывает что ему ехать еще 7часов 46 минут значит ETA on time.  </vt:lpstr>
      <vt:lpstr>EFS-это система/сервис для оплаты расходов перевозчика, прежде всего топлива и некоторых дорожных/ремонтных расходов.  После того как вы авторизовались, появляется окошка где в правом верхнем углу нужно будет нажать кнопку как на скриншоте. В следующем окне надо указать сумму выдачи, номер трака и примечание, чаще выписывается для lumper fee (LF-плата за услуги lumper, то есть сторонней компании или работников склада, которые разгружают или загружают груз вместо водителя.)   Lumper fee обычно оплачивается брокером. Когда водитель разгружается, он отправляет ссылку для оплаты, которую вам нужно отправить брокеру и сообщить что нужно оплать LF в размере к примеру 100 $. Broker  может выдать вам код, по которому водитель может оплатить LF или же попросить вас выдать EFS и оплатить за него, в таком случаи он должен будет возместить потраченную сумму. </vt:lpstr>
      <vt:lpstr>5. Взаимодействия с другими структурами  Роль каждого отдела  👨‍💼 Dispatcher Работа с loads, booking, broker, расписанием и организацией поездки. 👁️ Updater Мониторинг выполнения load: location, ETA, stops, delays, pickup, delivery, коммуникация и передача актуальной информации. 🚚 Driver Физически выполняет перевозку, сообщает статус, забирает и доставляет груз, предоставляет документы и фотографии. 🛠️ Fleet Truck и trailer: техническое состояние, maintenance, repairs, tires, parts, road service. 🛡️ Safety Безопасность и compliance, расследование инцидентов, safety-документация и соответствующие внутренние процедуры. 💰 Accounting Invoices, expenses, receipts, reimbursements, settlements и финансовая документация. 🤝 Broker / Amazon Источник конкретного load и операционных требований. В Amazon Relay работа ведётся непосредственно через платформу Amazon, а для street freight обычно взаимодействуют с broker. </vt:lpstr>
      <vt:lpstr>Самые нужные фразы апдейтера  С водителем: where are you currently? — Где вы сейчас?  What is your ETA? — Какое у вас ETA?  Are you at pickup? — Вы уже на pickup?  Are you loaded? — Вы загружены?  Are you empty? — Вы уже разгружены?  Are you on your way to delivery? — Вы уже едете на delivery?  How long is your break? — Сколько длится ваш break?  Please send pickup photos. — Пришлите фото с pickup.  Please send the signed BOL. — Пришлите подписанный BOL.  Please send the seal number/photo. — Пришлите номер/фото пломбы.  Please keep us updated. — Держите нас в курсе.  Брокеру: driver is on time. — Водитель идёт по графику.  Driver is running late due to traffic. — Водитель опаздывает из-за трафика.  Driver is delayed due to a road closure. — Задержка из-за перекрытия дороги.  Driver has arrived at pickup. — Водитель прибыл на pickup.  Driver is loaded and on the way. — Водитель загружен и в пути.  Driver is at delivery. — Водитель на delivery.  Please confirm the appointment time. — Подтвердите время appointment.  Please confirm the delivery address. — Подтвердите адрес доставки.  Please confirm the reefer temperature. — Подтвердите температуру reefer.  Please advise on the lumper fee. — Подскажите по оплате lumper fee.  Please advise on detention. — Подскажите по detention.  Are we good to go? — Мы можем продолжать?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Сабина Кошубаева</dc:creator>
  <cp:lastModifiedBy>Сабина Кошубаева</cp:lastModifiedBy>
  <cp:revision>3</cp:revision>
  <dcterms:created xsi:type="dcterms:W3CDTF">2026-09-08T16:59:24Z</dcterms:created>
  <dcterms:modified xsi:type="dcterms:W3CDTF">2026-09-16T07:07:39Z</dcterms:modified>
</cp:coreProperties>
</file>